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993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 w="9525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400" y="177800"/>
            <a:ext cx="78740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ЭНЕРГОТЕХНОХАБ ПЕТЕРБУРГ  ·  НАПРАВЛЕНИЕ 02</a:t>
            </a:r>
          </a:p>
        </p:txBody>
      </p:sp>
      <p:sp>
        <p:nvSpPr>
          <p:cNvPr id="5" name="Text 3"/>
          <p:cNvSpPr/>
          <p:nvPr/>
        </p:nvSpPr>
        <p:spPr>
          <a:xfrm>
            <a:off x="2404872" y="2011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3730752"/>
            <a:ext cx="11365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Воспроизводимое лабораторное ядро на синтетике.</a:t>
            </a:r>
          </a:p>
        </p:txBody>
      </p:sp>
      <p:sp>
        <p:nvSpPr>
          <p:cNvPr id="8" name="Shap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61F31"/>
          </a:solidFill>
          <a:ln w="9525">
            <a:solidFill>
              <a:srgbClr val="161F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254496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</a:t>
            </a:r>
          </a:p>
        </p:txBody>
      </p:sp>
      <p:sp>
        <p:nvSpPr>
          <p:cNvPr id="10" name="Text 8"/>
          <p:cNvSpPr/>
          <p:nvPr/>
        </p:nvSpPr>
        <p:spPr>
          <a:xfrm>
            <a:off x="411480" y="6437376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0.1.8</a:t>
            </a:r>
          </a:p>
        </p:txBody>
      </p:sp>
      <p:sp>
        <p:nvSpPr>
          <p:cNvPr id="11" name="Text 9"/>
          <p:cNvSpPr/>
          <p:nvPr/>
        </p:nvSpPr>
        <p:spPr>
          <a:xfrm>
            <a:off x="3154680" y="6254496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Зрелость</a:t>
            </a:r>
          </a:p>
        </p:txBody>
      </p:sp>
      <p:sp>
        <p:nvSpPr>
          <p:cNvPr id="12" name="Text 10"/>
          <p:cNvSpPr/>
          <p:nvPr/>
        </p:nvSpPr>
        <p:spPr>
          <a:xfrm>
            <a:off x="3154680" y="6437376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самооценка ISO 16290 TRL 4</a:t>
            </a:r>
          </a:p>
        </p:txBody>
      </p:sp>
      <p:sp>
        <p:nvSpPr>
          <p:cNvPr id="13" name="Text 11"/>
          <p:cNvSpPr/>
          <p:nvPr/>
        </p:nvSpPr>
        <p:spPr>
          <a:xfrm>
            <a:off x="5897880" y="6254496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Лицензия</a:t>
            </a:r>
          </a:p>
        </p:txBody>
      </p:sp>
      <p:sp>
        <p:nvSpPr>
          <p:cNvPr id="14" name="Text 12"/>
          <p:cNvSpPr/>
          <p:nvPr/>
        </p:nvSpPr>
        <p:spPr>
          <a:xfrm>
            <a:off x="5897880" y="6437376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· закрытого ядра нет</a:t>
            </a:r>
          </a:p>
        </p:txBody>
      </p:sp>
      <p:sp>
        <p:nvSpPr>
          <p:cNvPr id="15" name="Text 13"/>
          <p:cNvSpPr/>
          <p:nvPr/>
        </p:nvSpPr>
        <p:spPr>
          <a:xfrm>
            <a:off x="8641080" y="6254496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</a:p>
        </p:txBody>
      </p:sp>
      <p:sp>
        <p:nvSpPr>
          <p:cNvPr id="16" name="Text 14"/>
          <p:cNvSpPr/>
          <p:nvPr/>
        </p:nvSpPr>
        <p:spPr>
          <a:xfrm>
            <a:off x="8641080" y="6437376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синтетика · 55 работ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2394F96-D210-A9ED-2C92-C7A81DFE0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976" y="2329650"/>
            <a:ext cx="5159976" cy="3869982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411480" y="1645920"/>
            <a:ext cx="1136599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планирования работ ТОиР:</a:t>
            </a:r>
          </a:p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отдельно, проверка отдельно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338328"/>
            <a:ext cx="1136599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класса ограничений в одном графике —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ни одной независимой проверки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160020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задачи — гипотеза, требует валидации владельцем процесса. Проверено сейчас только поведение методов на синтетическом макете.</a:t>
            </a:r>
          </a:p>
        </p:txBody>
      </p:sp>
      <p:sp>
        <p:nvSpPr>
          <p:cNvPr id="5" name="Shape 3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11365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Синтетические данные, не производственная выгрузка.</a:t>
            </a:r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3678936" cy="45171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01952"/>
            <a:ext cx="3678936" cy="64008"/>
          </a:xfrm>
          <a:prstGeom prst="rect">
            <a:avLst/>
          </a:prstGeom>
          <a:solidFill>
            <a:srgbClr val="E5484D"/>
          </a:solidFill>
          <a:ln w="9525">
            <a:solidFill>
              <a:srgbClr val="E548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" y="2084832"/>
            <a:ext cx="493776" cy="493776"/>
          </a:xfrm>
          <a:prstGeom prst="rect">
            <a:avLst/>
          </a:prstGeom>
          <a:solidFill>
            <a:srgbClr val="E5484D"/>
          </a:solidFill>
          <a:ln w="9525">
            <a:solidFill>
              <a:srgbClr val="E548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0848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76072" y="2724912"/>
            <a:ext cx="33497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 и ЗИП</a:t>
            </a:r>
          </a:p>
        </p:txBody>
      </p:sp>
      <p:sp>
        <p:nvSpPr>
          <p:cNvPr id="12" name="Text 10"/>
          <p:cNvSpPr/>
          <p:nvPr/>
        </p:nvSpPr>
        <p:spPr>
          <a:xfrm>
            <a:off x="576072" y="3310128"/>
            <a:ext cx="33497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Бригады с квалификациями, календарь доступности, одна единица ЗИП на перечисленную позицию, переезды между площадками. Все они претендуют на один и тот же слот, а конфликт становится виден только после того, как график уже собран.</a:t>
            </a:r>
          </a:p>
        </p:txBody>
      </p:sp>
      <p:sp>
        <p:nvSpPr>
          <p:cNvPr id="13" name="Shape 11"/>
          <p:cNvSpPr/>
          <p:nvPr/>
        </p:nvSpPr>
        <p:spPr>
          <a:xfrm>
            <a:off x="576072" y="5687568"/>
            <a:ext cx="3349752" cy="603504"/>
          </a:xfrm>
          <a:prstGeom prst="rect">
            <a:avLst/>
          </a:prstGeom>
          <a:solidFill>
            <a:srgbClr val="F7F8FA"/>
          </a:solidFill>
          <a:ln w="9525">
            <a:solidFill>
              <a:srgbClr val="E548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5724144"/>
            <a:ext cx="3166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Макет: FIFO даёт 5 нарушений по ресурсу и 32 по зазору на переезд</a:t>
            </a:r>
          </a:p>
        </p:txBody>
      </p:sp>
      <p:sp>
        <p:nvSpPr>
          <p:cNvPr id="15" name="Shape 13"/>
          <p:cNvSpPr/>
          <p:nvPr/>
        </p:nvSpPr>
        <p:spPr>
          <a:xfrm>
            <a:off x="4255008" y="1901952"/>
            <a:ext cx="3678936" cy="45171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5008" y="1901952"/>
            <a:ext cx="3678936" cy="64008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9600" y="2084832"/>
            <a:ext cx="493776" cy="493776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9600" y="20848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19600" y="2724912"/>
            <a:ext cx="33497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Согласованные окна</a:t>
            </a:r>
          </a:p>
        </p:txBody>
      </p:sp>
      <p:sp>
        <p:nvSpPr>
          <p:cNvPr id="20" name="Text 18"/>
          <p:cNvSpPr/>
          <p:nvPr/>
        </p:nvSpPr>
        <p:spPr>
          <a:xfrm>
            <a:off x="4419600" y="3310128"/>
            <a:ext cx="33497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обязана лежать внутри согласованного окна отключения и в горизонте планирования, а техцепочка «отключение → ремонт → включение» остаться линейной. Окон в макете 85 — вручную пересечения не удерживаются.</a:t>
            </a:r>
          </a:p>
        </p:txBody>
      </p:sp>
      <p:sp>
        <p:nvSpPr>
          <p:cNvPr id="21" name="Shape 19"/>
          <p:cNvSpPr/>
          <p:nvPr/>
        </p:nvSpPr>
        <p:spPr>
          <a:xfrm>
            <a:off x="4419600" y="5687568"/>
            <a:ext cx="3349752" cy="603504"/>
          </a:xfrm>
          <a:prstGeom prst="rect">
            <a:avLst/>
          </a:prstGeom>
          <a:solidFill>
            <a:srgbClr val="F7F8FA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1040" y="5724144"/>
            <a:ext cx="3166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Макет: 48 работ вне окна и 16 сломанных техцепочек</a:t>
            </a:r>
          </a:p>
        </p:txBody>
      </p:sp>
      <p:sp>
        <p:nvSpPr>
          <p:cNvPr id="23" name="Shape 21"/>
          <p:cNvSpPr/>
          <p:nvPr/>
        </p:nvSpPr>
        <p:spPr>
          <a:xfrm>
            <a:off x="8098536" y="1901952"/>
            <a:ext cx="3678936" cy="45171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8536" y="1901952"/>
            <a:ext cx="3678936" cy="64008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3128" y="2084832"/>
            <a:ext cx="493776" cy="493776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3128" y="20848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63128" y="2724912"/>
            <a:ext cx="33497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Заморозка строк ПЛ</a:t>
            </a:r>
          </a:p>
        </p:txBody>
      </p:sp>
      <p:sp>
        <p:nvSpPr>
          <p:cNvPr id="28" name="Text 26"/>
          <p:cNvSpPr/>
          <p:nvPr/>
        </p:nvSpPr>
        <p:spPr>
          <a:xfrm>
            <a:off x="8263128" y="3310128"/>
            <a:ext cx="33497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Ранее согласованные строки программы ликвидации нельзя сдвигать при перепланировании. Перепроверять это нужно после каждой правки, иначе «починили одно — сломали согласованное» замечают уже на объекте.</a:t>
            </a:r>
          </a:p>
        </p:txBody>
      </p:sp>
      <p:sp>
        <p:nvSpPr>
          <p:cNvPr id="29" name="Shape 27"/>
          <p:cNvSpPr/>
          <p:nvPr/>
        </p:nvSpPr>
        <p:spPr>
          <a:xfrm>
            <a:off x="8263128" y="5687568"/>
            <a:ext cx="3349752" cy="603504"/>
          </a:xfrm>
          <a:prstGeom prst="rect">
            <a:avLst/>
          </a:prstGeom>
          <a:solidFill>
            <a:srgbClr val="F7F8FA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54568" y="5724144"/>
            <a:ext cx="3166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66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Макет, сценарий B: 6 сорванных работ переставлены, 0 конфликтов с заморозкой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УСТРОЕНО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338328"/>
            <a:ext cx="1136599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не имеет права подтвердить сама себя</a:t>
            </a:r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9672"/>
            <a:ext cx="11365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цифры сверены с репозиторием проекта.</a:t>
            </a:r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11365992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45920"/>
            <a:ext cx="64008" cy="1124712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70532"/>
            <a:ext cx="493776" cy="475488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70532"/>
            <a:ext cx="493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24712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JSON / CSV</a:t>
            </a:r>
          </a:p>
        </p:txBody>
      </p:sp>
      <p:sp>
        <p:nvSpPr>
          <p:cNvPr id="11" name="Text 9"/>
          <p:cNvSpPr/>
          <p:nvPr/>
        </p:nvSpPr>
        <p:spPr>
          <a:xfrm>
            <a:off x="1124712" y="213969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66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входных данных</a:t>
            </a:r>
          </a:p>
        </p:txBody>
      </p:sp>
      <p:sp>
        <p:nvSpPr>
          <p:cNvPr id="12" name="Text 10"/>
          <p:cNvSpPr/>
          <p:nvPr/>
        </p:nvSpPr>
        <p:spPr>
          <a:xfrm>
            <a:off x="5440680" y="1737360"/>
            <a:ext cx="633679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Работы, бригады, окна отключений, позиции ЗИП, линейные техцепочки, заморозка строк ПЛ. Неизвестные поля отвергаются. Не SCADA, не EMS, не GIS.</a:t>
            </a:r>
          </a:p>
        </p:txBody>
      </p:sp>
      <p:sp>
        <p:nvSpPr>
          <p:cNvPr id="13" name="Shape 11"/>
          <p:cNvSpPr/>
          <p:nvPr/>
        </p:nvSpPr>
        <p:spPr>
          <a:xfrm>
            <a:off x="411480" y="2880360"/>
            <a:ext cx="11365992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880360"/>
            <a:ext cx="64008" cy="1124712"/>
          </a:xfrm>
          <a:prstGeom prst="rect">
            <a:avLst/>
          </a:prstGeom>
          <a:solidFill>
            <a:srgbClr val="00BCD4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04972"/>
            <a:ext cx="493776" cy="475488"/>
          </a:xfrm>
          <a:prstGeom prst="rect">
            <a:avLst/>
          </a:prstGeom>
          <a:solidFill>
            <a:srgbClr val="00BCD4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04972"/>
            <a:ext cx="493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24712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слотов: SynAPS</a:t>
            </a:r>
          </a:p>
        </p:txBody>
      </p:sp>
      <p:sp>
        <p:nvSpPr>
          <p:cNvPr id="18" name="Text 16"/>
          <p:cNvSpPr/>
          <p:nvPr/>
        </p:nvSpPr>
        <p:spPr>
          <a:xfrm>
            <a:off x="1124712" y="337413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исследовательский модуль</a:t>
            </a:r>
          </a:p>
        </p:txBody>
      </p:sp>
      <p:sp>
        <p:nvSpPr>
          <p:cNvPr id="19" name="Text 17"/>
          <p:cNvSpPr/>
          <p:nvPr/>
        </p:nvSpPr>
        <p:spPr>
          <a:xfrm>
            <a:off x="5440680" y="2971800"/>
            <a:ext cx="633679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 и FIFO — эвристические методы. Полнота не доказана: неуспех эвристики не равен невыполнимости задачи.</a:t>
            </a:r>
          </a:p>
        </p:txBody>
      </p:sp>
      <p:sp>
        <p:nvSpPr>
          <p:cNvPr id="20" name="Shape 18"/>
          <p:cNvSpPr/>
          <p:nvPr/>
        </p:nvSpPr>
        <p:spPr>
          <a:xfrm>
            <a:off x="411480" y="4114800"/>
            <a:ext cx="11365992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114800"/>
            <a:ext cx="64008" cy="1124712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439412"/>
            <a:ext cx="493776" cy="475488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439412"/>
            <a:ext cx="493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24712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точный метод CP-SAT</a:t>
            </a:r>
          </a:p>
        </p:txBody>
      </p:sp>
      <p:sp>
        <p:nvSpPr>
          <p:cNvPr id="25" name="Text 23"/>
          <p:cNvSpPr/>
          <p:nvPr/>
        </p:nvSpPr>
        <p:spPr>
          <a:xfrm>
            <a:off x="1124712" y="460857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прототип; проверяется автоматически</a:t>
            </a:r>
          </a:p>
        </p:txBody>
      </p:sp>
      <p:sp>
        <p:nvSpPr>
          <p:cNvPr id="26" name="Text 24"/>
          <p:cNvSpPr/>
          <p:nvPr/>
        </p:nvSpPr>
        <p:spPr>
          <a:xfrm>
            <a:off x="5440680" y="4206240"/>
            <a:ext cx="633679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том же макете модель достигла оптимума: нижняя граница совпала с длиной графика 30 600 мин. Это оптимум скомпилированной модели по одному критерию, а не исходной многооконной задачи.</a:t>
            </a:r>
          </a:p>
        </p:txBody>
      </p:sp>
      <p:sp>
        <p:nvSpPr>
          <p:cNvPr id="27" name="Shape 25"/>
          <p:cNvSpPr/>
          <p:nvPr/>
        </p:nvSpPr>
        <p:spPr>
          <a:xfrm>
            <a:off x="411480" y="5349240"/>
            <a:ext cx="11365992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5349240"/>
            <a:ext cx="64008" cy="1124712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5673852"/>
            <a:ext cx="493776" cy="475488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673852"/>
            <a:ext cx="493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24712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Независимый чекер</a:t>
            </a:r>
          </a:p>
        </p:txBody>
      </p:sp>
      <p:sp>
        <p:nvSpPr>
          <p:cNvPr id="32" name="Text 30"/>
          <p:cNvSpPr/>
          <p:nvPr/>
        </p:nvSpPr>
        <p:spPr>
          <a:xfrm>
            <a:off x="1124712" y="584301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4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защитный режим</a:t>
            </a:r>
          </a:p>
        </p:txBody>
      </p:sp>
      <p:sp>
        <p:nvSpPr>
          <p:cNvPr id="33" name="Text 31"/>
          <p:cNvSpPr/>
          <p:nvPr/>
        </p:nvSpPr>
        <p:spPr>
          <a:xfrm>
            <a:off x="5440680" y="5440680"/>
            <a:ext cx="633679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Принимается только результат с допустимым статусом, подтверждённой выполнимостью и нулём жёстких нарушений. Rust проверяет отдельный доменный слой.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266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338328"/>
            <a:ext cx="1136599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слоя: постановка → поиск → независимая проверка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160020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Чекер не зависит от решателя. Публикация графика, наряд-допуск и переключение оборудования — вне продукта.</a:t>
            </a:r>
          </a:p>
        </p:txBody>
      </p:sp>
      <p:sp>
        <p:nvSpPr>
          <p:cNvPr id="5" name="Shape 3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11365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3666744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01952"/>
            <a:ext cx="3666744" cy="64008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2066544"/>
            <a:ext cx="3374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Ввод</a:t>
            </a:r>
          </a:p>
        </p:txBody>
      </p:sp>
      <p:sp>
        <p:nvSpPr>
          <p:cNvPr id="10" name="Shape 8"/>
          <p:cNvSpPr/>
          <p:nvPr/>
        </p:nvSpPr>
        <p:spPr>
          <a:xfrm>
            <a:off x="557784" y="2505456"/>
            <a:ext cx="3374136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2819400"/>
            <a:ext cx="91440" cy="9144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654300"/>
            <a:ext cx="31912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входа: JSON или CSV</a:t>
            </a:r>
          </a:p>
        </p:txBody>
      </p:sp>
      <p:sp>
        <p:nvSpPr>
          <p:cNvPr id="13" name="Shape 11"/>
          <p:cNvSpPr/>
          <p:nvPr/>
        </p:nvSpPr>
        <p:spPr>
          <a:xfrm>
            <a:off x="557784" y="3657600"/>
            <a:ext cx="91440" cy="9144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492500"/>
            <a:ext cx="31912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работ · 7 бригад · 39 активов</a:t>
            </a:r>
          </a:p>
        </p:txBody>
      </p:sp>
      <p:sp>
        <p:nvSpPr>
          <p:cNvPr id="15" name="Shape 13"/>
          <p:cNvSpPr/>
          <p:nvPr/>
        </p:nvSpPr>
        <p:spPr>
          <a:xfrm>
            <a:off x="557784" y="4495800"/>
            <a:ext cx="91440" cy="9144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4330700"/>
            <a:ext cx="31912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согласованных окон</a:t>
            </a:r>
          </a:p>
        </p:txBody>
      </p:sp>
      <p:sp>
        <p:nvSpPr>
          <p:cNvPr id="17" name="Shape 15"/>
          <p:cNvSpPr/>
          <p:nvPr/>
        </p:nvSpPr>
        <p:spPr>
          <a:xfrm>
            <a:off x="557784" y="5334000"/>
            <a:ext cx="91440" cy="9144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5168900"/>
            <a:ext cx="31912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Заморозка строк ПЛ</a:t>
            </a:r>
          </a:p>
        </p:txBody>
      </p:sp>
      <p:sp>
        <p:nvSpPr>
          <p:cNvPr id="19" name="Shape 17"/>
          <p:cNvSpPr/>
          <p:nvPr/>
        </p:nvSpPr>
        <p:spPr>
          <a:xfrm>
            <a:off x="4261104" y="1901952"/>
            <a:ext cx="3666744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61104" y="1901952"/>
            <a:ext cx="3666744" cy="64008"/>
          </a:xfrm>
          <a:prstGeom prst="rect">
            <a:avLst/>
          </a:prstGeom>
          <a:solidFill>
            <a:srgbClr val="00BCD4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2066544"/>
            <a:ext cx="3374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Ядро</a:t>
            </a:r>
          </a:p>
        </p:txBody>
      </p:sp>
      <p:sp>
        <p:nvSpPr>
          <p:cNvPr id="22" name="Shape 20"/>
          <p:cNvSpPr/>
          <p:nvPr/>
        </p:nvSpPr>
        <p:spPr>
          <a:xfrm>
            <a:off x="4407408" y="2505456"/>
            <a:ext cx="3374136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07408" y="2819400"/>
            <a:ext cx="91440" cy="91440"/>
          </a:xfrm>
          <a:prstGeom prst="rect">
            <a:avLst/>
          </a:prstGeom>
          <a:solidFill>
            <a:srgbClr val="00BCD4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2654300"/>
            <a:ext cx="31912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SynAPS: GREED / FIFO</a:t>
            </a:r>
          </a:p>
        </p:txBody>
      </p:sp>
      <p:sp>
        <p:nvSpPr>
          <p:cNvPr id="25" name="Shape 23"/>
          <p:cNvSpPr/>
          <p:nvPr/>
        </p:nvSpPr>
        <p:spPr>
          <a:xfrm>
            <a:off x="4407408" y="3657600"/>
            <a:ext cx="91440" cy="91440"/>
          </a:xfrm>
          <a:prstGeom prst="rect">
            <a:avLst/>
          </a:prstGeom>
          <a:solidFill>
            <a:srgbClr val="00BCD4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3492500"/>
            <a:ext cx="31912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точный метод CP-SAT</a:t>
            </a:r>
          </a:p>
        </p:txBody>
      </p:sp>
      <p:sp>
        <p:nvSpPr>
          <p:cNvPr id="27" name="Shape 25"/>
          <p:cNvSpPr/>
          <p:nvPr/>
        </p:nvSpPr>
        <p:spPr>
          <a:xfrm>
            <a:off x="4407408" y="4495800"/>
            <a:ext cx="91440" cy="91440"/>
          </a:xfrm>
          <a:prstGeom prst="rect">
            <a:avLst/>
          </a:prstGeom>
          <a:solidFill>
            <a:srgbClr val="00BCD4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0288" y="4330700"/>
            <a:ext cx="31912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Компиляция ограничений</a:t>
            </a:r>
          </a:p>
        </p:txBody>
      </p:sp>
      <p:sp>
        <p:nvSpPr>
          <p:cNvPr id="29" name="Shape 27"/>
          <p:cNvSpPr/>
          <p:nvPr/>
        </p:nvSpPr>
        <p:spPr>
          <a:xfrm>
            <a:off x="4407408" y="5334000"/>
            <a:ext cx="91440" cy="91440"/>
          </a:xfrm>
          <a:prstGeom prst="rect">
            <a:avLst/>
          </a:prstGeom>
          <a:solidFill>
            <a:srgbClr val="00BCD4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5168900"/>
            <a:ext cx="31912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Повторная валидация модели</a:t>
            </a:r>
          </a:p>
        </p:txBody>
      </p:sp>
      <p:sp>
        <p:nvSpPr>
          <p:cNvPr id="31" name="Shape 29"/>
          <p:cNvSpPr/>
          <p:nvPr/>
        </p:nvSpPr>
        <p:spPr>
          <a:xfrm>
            <a:off x="8110728" y="1901952"/>
            <a:ext cx="3666744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10728" y="1901952"/>
            <a:ext cx="3666744" cy="64008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2066544"/>
            <a:ext cx="3374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Результат</a:t>
            </a:r>
          </a:p>
        </p:txBody>
      </p:sp>
      <p:sp>
        <p:nvSpPr>
          <p:cNvPr id="34" name="Shape 32"/>
          <p:cNvSpPr/>
          <p:nvPr/>
        </p:nvSpPr>
        <p:spPr>
          <a:xfrm>
            <a:off x="8257032" y="2505456"/>
            <a:ext cx="3374136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57032" y="2819400"/>
            <a:ext cx="91440" cy="9144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9912" y="2654300"/>
            <a:ext cx="31912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 графика, JSON</a:t>
            </a:r>
          </a:p>
        </p:txBody>
      </p:sp>
      <p:sp>
        <p:nvSpPr>
          <p:cNvPr id="37" name="Shape 35"/>
          <p:cNvSpPr/>
          <p:nvPr/>
        </p:nvSpPr>
        <p:spPr>
          <a:xfrm>
            <a:off x="8257032" y="3657600"/>
            <a:ext cx="91440" cy="9144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9912" y="3492500"/>
            <a:ext cx="31912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Подтверждённый результат</a:t>
            </a:r>
          </a:p>
        </p:txBody>
      </p:sp>
      <p:sp>
        <p:nvSpPr>
          <p:cNvPr id="39" name="Shape 37"/>
          <p:cNvSpPr/>
          <p:nvPr/>
        </p:nvSpPr>
        <p:spPr>
          <a:xfrm>
            <a:off x="8257032" y="4495800"/>
            <a:ext cx="91440" cy="9144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39912" y="4330700"/>
            <a:ext cx="31912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 нарушений</a:t>
            </a:r>
          </a:p>
        </p:txBody>
      </p:sp>
      <p:sp>
        <p:nvSpPr>
          <p:cNvPr id="41" name="Shape 39"/>
          <p:cNvSpPr/>
          <p:nvPr/>
        </p:nvSpPr>
        <p:spPr>
          <a:xfrm>
            <a:off x="8257032" y="5334000"/>
            <a:ext cx="91440" cy="9144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39912" y="5168900"/>
            <a:ext cx="31912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Коды выхода для автоматической проверки</a:t>
            </a:r>
          </a:p>
        </p:txBody>
      </p:sp>
      <p:sp>
        <p:nvSpPr>
          <p:cNvPr id="43" name="Text 41"/>
          <p:cNvSpPr/>
          <p:nvPr/>
        </p:nvSpPr>
        <p:spPr>
          <a:xfrm>
            <a:off x="4023360" y="3986784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6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982712" y="3986784"/>
            <a:ext cx="73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6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ДОКАЗАТЕЛЬСТВО  ·  ОДИН ИНСТАНС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338328"/>
            <a:ext cx="1136599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Синтетический РЭС «Северный»: один JSON, три метода, чекер один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160020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Оптимальность GREED не утверждается. Но длина его графика совпала с оптимумом CP-SAT с точностью до 1 минуты.</a:t>
            </a:r>
          </a:p>
        </p:txBody>
      </p:sp>
      <p:sp>
        <p:nvSpPr>
          <p:cNvPr id="5" name="Shape 3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11365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Синтетический макет, не выгрузка ПАО «Россети». Время зависит от машины и не является нормативом.</a:t>
            </a:r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3017520" cy="402336"/>
          </a:xfrm>
          <a:prstGeom prst="rect">
            <a:avLst/>
          </a:prstGeom>
          <a:solidFill>
            <a:srgbClr val="161F31"/>
          </a:solidFill>
          <a:ln w="9525">
            <a:solidFill>
              <a:srgbClr val="161F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0195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</a:t>
            </a:r>
          </a:p>
        </p:txBody>
      </p:sp>
      <p:sp>
        <p:nvSpPr>
          <p:cNvPr id="9" name="Shape 7"/>
          <p:cNvSpPr/>
          <p:nvPr/>
        </p:nvSpPr>
        <p:spPr>
          <a:xfrm>
            <a:off x="3429000" y="1901952"/>
            <a:ext cx="1737360" cy="402336"/>
          </a:xfrm>
          <a:prstGeom prst="rect">
            <a:avLst/>
          </a:prstGeom>
          <a:solidFill>
            <a:srgbClr val="161F31"/>
          </a:solidFill>
          <a:ln w="9525">
            <a:solidFill>
              <a:srgbClr val="161F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9019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</a:p>
        </p:txBody>
      </p:sp>
      <p:sp>
        <p:nvSpPr>
          <p:cNvPr id="11" name="Shape 9"/>
          <p:cNvSpPr/>
          <p:nvPr/>
        </p:nvSpPr>
        <p:spPr>
          <a:xfrm>
            <a:off x="5166360" y="1901952"/>
            <a:ext cx="1554480" cy="402336"/>
          </a:xfrm>
          <a:prstGeom prst="rect">
            <a:avLst/>
          </a:prstGeom>
          <a:solidFill>
            <a:srgbClr val="161F31"/>
          </a:solidFill>
          <a:ln w="9525">
            <a:solidFill>
              <a:srgbClr val="161F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9019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Нарушений</a:t>
            </a:r>
          </a:p>
        </p:txBody>
      </p:sp>
      <p:sp>
        <p:nvSpPr>
          <p:cNvPr id="13" name="Shape 11"/>
          <p:cNvSpPr/>
          <p:nvPr/>
        </p:nvSpPr>
        <p:spPr>
          <a:xfrm>
            <a:off x="6720840" y="1901952"/>
            <a:ext cx="1554480" cy="402336"/>
          </a:xfrm>
          <a:prstGeom prst="rect">
            <a:avLst/>
          </a:prstGeom>
          <a:solidFill>
            <a:srgbClr val="161F31"/>
          </a:solidFill>
          <a:ln w="9525">
            <a:solidFill>
              <a:srgbClr val="161F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9019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Время, с</a:t>
            </a:r>
          </a:p>
        </p:txBody>
      </p:sp>
      <p:sp>
        <p:nvSpPr>
          <p:cNvPr id="15" name="Shape 13"/>
          <p:cNvSpPr/>
          <p:nvPr/>
        </p:nvSpPr>
        <p:spPr>
          <a:xfrm>
            <a:off x="8275320" y="1901952"/>
            <a:ext cx="3502152" cy="402336"/>
          </a:xfrm>
          <a:prstGeom prst="rect">
            <a:avLst/>
          </a:prstGeom>
          <a:solidFill>
            <a:srgbClr val="161F31"/>
          </a:solidFill>
          <a:ln w="9525">
            <a:solidFill>
              <a:srgbClr val="161F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901952"/>
            <a:ext cx="3410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</a:p>
        </p:txBody>
      </p:sp>
      <p:sp>
        <p:nvSpPr>
          <p:cNvPr id="17" name="Shape 15"/>
          <p:cNvSpPr/>
          <p:nvPr/>
        </p:nvSpPr>
        <p:spPr>
          <a:xfrm>
            <a:off x="411480" y="2304288"/>
            <a:ext cx="30175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0428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Календарный FIFO</a:t>
            </a:r>
          </a:p>
        </p:txBody>
      </p:sp>
      <p:sp>
        <p:nvSpPr>
          <p:cNvPr id="19" name="Shape 17"/>
          <p:cNvSpPr/>
          <p:nvPr/>
        </p:nvSpPr>
        <p:spPr>
          <a:xfrm>
            <a:off x="3429000" y="2304288"/>
            <a:ext cx="1737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30428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пройдена</a:t>
            </a:r>
          </a:p>
        </p:txBody>
      </p:sp>
      <p:sp>
        <p:nvSpPr>
          <p:cNvPr id="21" name="Shape 19"/>
          <p:cNvSpPr/>
          <p:nvPr/>
        </p:nvSpPr>
        <p:spPr>
          <a:xfrm>
            <a:off x="5166360" y="2304288"/>
            <a:ext cx="15544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30428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</a:p>
        </p:txBody>
      </p:sp>
      <p:sp>
        <p:nvSpPr>
          <p:cNvPr id="23" name="Shape 21"/>
          <p:cNvSpPr/>
          <p:nvPr/>
        </p:nvSpPr>
        <p:spPr>
          <a:xfrm>
            <a:off x="6720840" y="2304288"/>
            <a:ext cx="15544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30428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0.024</a:t>
            </a:r>
          </a:p>
        </p:txBody>
      </p:sp>
      <p:sp>
        <p:nvSpPr>
          <p:cNvPr id="25" name="Shape 23"/>
          <p:cNvSpPr/>
          <p:nvPr/>
        </p:nvSpPr>
        <p:spPr>
          <a:xfrm>
            <a:off x="8275320" y="2304288"/>
            <a:ext cx="350215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2304288"/>
            <a:ext cx="3410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недопустим</a:t>
            </a:r>
          </a:p>
        </p:txBody>
      </p:sp>
      <p:sp>
        <p:nvSpPr>
          <p:cNvPr id="27" name="Shape 25"/>
          <p:cNvSpPr/>
          <p:nvPr/>
        </p:nvSpPr>
        <p:spPr>
          <a:xfrm>
            <a:off x="411480" y="2779776"/>
            <a:ext cx="3017520" cy="475488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77977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 (эвристика)</a:t>
            </a:r>
          </a:p>
        </p:txBody>
      </p:sp>
      <p:sp>
        <p:nvSpPr>
          <p:cNvPr id="29" name="Shape 27"/>
          <p:cNvSpPr/>
          <p:nvPr/>
        </p:nvSpPr>
        <p:spPr>
          <a:xfrm>
            <a:off x="3429000" y="2779776"/>
            <a:ext cx="1737360" cy="475488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277977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пройдена</a:t>
            </a:r>
          </a:p>
        </p:txBody>
      </p:sp>
      <p:sp>
        <p:nvSpPr>
          <p:cNvPr id="31" name="Shape 29"/>
          <p:cNvSpPr/>
          <p:nvPr/>
        </p:nvSpPr>
        <p:spPr>
          <a:xfrm>
            <a:off x="5166360" y="2779776"/>
            <a:ext cx="1554480" cy="475488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27797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</a:p>
        </p:txBody>
      </p:sp>
      <p:sp>
        <p:nvSpPr>
          <p:cNvPr id="33" name="Shape 31"/>
          <p:cNvSpPr/>
          <p:nvPr/>
        </p:nvSpPr>
        <p:spPr>
          <a:xfrm>
            <a:off x="6720840" y="2779776"/>
            <a:ext cx="1554480" cy="475488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27797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0.231</a:t>
            </a:r>
          </a:p>
        </p:txBody>
      </p:sp>
      <p:sp>
        <p:nvSpPr>
          <p:cNvPr id="35" name="Shape 33"/>
          <p:cNvSpPr/>
          <p:nvPr/>
        </p:nvSpPr>
        <p:spPr>
          <a:xfrm>
            <a:off x="8275320" y="2779776"/>
            <a:ext cx="3502152" cy="475488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2779776"/>
            <a:ext cx="3410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эвристическое решение</a:t>
            </a:r>
          </a:p>
        </p:txBody>
      </p:sp>
      <p:sp>
        <p:nvSpPr>
          <p:cNvPr id="37" name="Shape 35"/>
          <p:cNvSpPr/>
          <p:nvPr/>
        </p:nvSpPr>
        <p:spPr>
          <a:xfrm>
            <a:off x="411480" y="3255264"/>
            <a:ext cx="30175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25526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CPSAT-30, тот же JSON</a:t>
            </a:r>
          </a:p>
        </p:txBody>
      </p:sp>
      <p:sp>
        <p:nvSpPr>
          <p:cNvPr id="39" name="Shape 37"/>
          <p:cNvSpPr/>
          <p:nvPr/>
        </p:nvSpPr>
        <p:spPr>
          <a:xfrm>
            <a:off x="3429000" y="3255264"/>
            <a:ext cx="1737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32552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пройдена</a:t>
            </a:r>
          </a:p>
        </p:txBody>
      </p:sp>
      <p:sp>
        <p:nvSpPr>
          <p:cNvPr id="41" name="Shape 39"/>
          <p:cNvSpPr/>
          <p:nvPr/>
        </p:nvSpPr>
        <p:spPr>
          <a:xfrm>
            <a:off x="5166360" y="3255264"/>
            <a:ext cx="15544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7800" y="325526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</a:p>
        </p:txBody>
      </p:sp>
      <p:sp>
        <p:nvSpPr>
          <p:cNvPr id="43" name="Shape 41"/>
          <p:cNvSpPr/>
          <p:nvPr/>
        </p:nvSpPr>
        <p:spPr>
          <a:xfrm>
            <a:off x="6720840" y="3255264"/>
            <a:ext cx="15544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325526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11.856</a:t>
            </a:r>
          </a:p>
        </p:txBody>
      </p:sp>
      <p:sp>
        <p:nvSpPr>
          <p:cNvPr id="45" name="Shape 43"/>
          <p:cNvSpPr/>
          <p:nvPr/>
        </p:nvSpPr>
        <p:spPr>
          <a:xfrm>
            <a:off x="8275320" y="3255264"/>
            <a:ext cx="350215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66760" y="3255264"/>
            <a:ext cx="3410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оптимум · длина графика равна нижней границе</a:t>
            </a:r>
          </a:p>
        </p:txBody>
      </p:sp>
      <p:sp>
        <p:nvSpPr>
          <p:cNvPr id="47" name="Shape 45"/>
          <p:cNvSpPr/>
          <p:nvPr/>
        </p:nvSpPr>
        <p:spPr>
          <a:xfrm>
            <a:off x="411480" y="3986784"/>
            <a:ext cx="273177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3986784"/>
            <a:ext cx="2731770" cy="64008"/>
          </a:xfrm>
          <a:prstGeom prst="rect">
            <a:avLst/>
          </a:prstGeom>
          <a:solidFill>
            <a:srgbClr val="00BCD4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" y="4187952"/>
            <a:ext cx="25123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→ 0</a:t>
            </a:r>
          </a:p>
        </p:txBody>
      </p:sp>
      <p:sp>
        <p:nvSpPr>
          <p:cNvPr id="50" name="Text 48"/>
          <p:cNvSpPr/>
          <p:nvPr/>
        </p:nvSpPr>
        <p:spPr>
          <a:xfrm>
            <a:off x="521208" y="4864608"/>
            <a:ext cx="251231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жёстких нарушений: FIFO → GREED</a:t>
            </a:r>
          </a:p>
        </p:txBody>
      </p:sp>
      <p:sp>
        <p:nvSpPr>
          <p:cNvPr id="51" name="Shape 49"/>
          <p:cNvSpPr/>
          <p:nvPr/>
        </p:nvSpPr>
        <p:spPr>
          <a:xfrm>
            <a:off x="3289554" y="3986784"/>
            <a:ext cx="273177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89554" y="3986784"/>
            <a:ext cx="2731770" cy="64008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99282" y="4187952"/>
            <a:ext cx="25123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</a:p>
        </p:txBody>
      </p:sp>
      <p:sp>
        <p:nvSpPr>
          <p:cNvPr id="54" name="Text 52"/>
          <p:cNvSpPr/>
          <p:nvPr/>
        </p:nvSpPr>
        <p:spPr>
          <a:xfrm>
            <a:off x="3399282" y="4864608"/>
            <a:ext cx="251231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конфликтов с заморозкой ПЛ, сценарий B</a:t>
            </a:r>
          </a:p>
        </p:txBody>
      </p:sp>
      <p:sp>
        <p:nvSpPr>
          <p:cNvPr id="55" name="Shape 53"/>
          <p:cNvSpPr/>
          <p:nvPr/>
        </p:nvSpPr>
        <p:spPr>
          <a:xfrm>
            <a:off x="6167628" y="3986784"/>
            <a:ext cx="273177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67628" y="3986784"/>
            <a:ext cx="2731770" cy="64008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77356" y="4187952"/>
            <a:ext cx="25123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Совпали</a:t>
            </a:r>
          </a:p>
        </p:txBody>
      </p:sp>
      <p:sp>
        <p:nvSpPr>
          <p:cNvPr id="58" name="Text 56"/>
          <p:cNvSpPr/>
          <p:nvPr/>
        </p:nvSpPr>
        <p:spPr>
          <a:xfrm>
            <a:off x="6277356" y="4864608"/>
            <a:ext cx="251231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запуска GREED совпали</a:t>
            </a:r>
          </a:p>
        </p:txBody>
      </p:sp>
      <p:sp>
        <p:nvSpPr>
          <p:cNvPr id="59" name="Shape 57"/>
          <p:cNvSpPr/>
          <p:nvPr/>
        </p:nvSpPr>
        <p:spPr>
          <a:xfrm>
            <a:off x="9045702" y="3986784"/>
            <a:ext cx="273177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45702" y="3986784"/>
            <a:ext cx="2731770" cy="64008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55430" y="4187952"/>
            <a:ext cx="25123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66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30 600</a:t>
            </a:r>
          </a:p>
        </p:txBody>
      </p:sp>
      <p:sp>
        <p:nvSpPr>
          <p:cNvPr id="62" name="Text 60"/>
          <p:cNvSpPr/>
          <p:nvPr/>
        </p:nvSpPr>
        <p:spPr>
          <a:xfrm>
            <a:off x="9155430" y="4864608"/>
            <a:ext cx="251231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минут: CP-SAT и GREED совпали с точностью до 1 минуты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ВЕРИФИКАЦИЯ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338328"/>
            <a:ext cx="1136599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чекер ловит, чего не умеет и что отдаёт наружу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160020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Защитный режим: при жёстком нарушении план не подтверждается и программа возвращает код 2. Это штатная работа продукта.</a:t>
            </a:r>
          </a:p>
        </p:txBody>
      </p:sp>
      <p:sp>
        <p:nvSpPr>
          <p:cNvPr id="5" name="Shape 3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11365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3678936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01952"/>
            <a:ext cx="3678936" cy="64008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2048256"/>
            <a:ext cx="338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проверяет</a:t>
            </a:r>
          </a:p>
        </p:txBody>
      </p:sp>
      <p:sp>
        <p:nvSpPr>
          <p:cNvPr id="10" name="Shape 8"/>
          <p:cNvSpPr/>
          <p:nvPr/>
        </p:nvSpPr>
        <p:spPr>
          <a:xfrm>
            <a:off x="557784" y="2468880"/>
            <a:ext cx="3386328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2743200"/>
            <a:ext cx="91440" cy="9144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5908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отключения на одном аппарате</a:t>
            </a:r>
          </a:p>
        </p:txBody>
      </p:sp>
      <p:sp>
        <p:nvSpPr>
          <p:cNvPr id="13" name="Shape 11"/>
          <p:cNvSpPr/>
          <p:nvPr/>
        </p:nvSpPr>
        <p:spPr>
          <a:xfrm>
            <a:off x="557784" y="3441700"/>
            <a:ext cx="91440" cy="9144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2893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вне согласованного окна</a:t>
            </a:r>
          </a:p>
        </p:txBody>
      </p:sp>
      <p:sp>
        <p:nvSpPr>
          <p:cNvPr id="15" name="Shape 13"/>
          <p:cNvSpPr/>
          <p:nvPr/>
        </p:nvSpPr>
        <p:spPr>
          <a:xfrm>
            <a:off x="557784" y="4140200"/>
            <a:ext cx="91440" cy="9144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9878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Нехватка вспомогательного ресурса и ЗИП</a:t>
            </a:r>
          </a:p>
        </p:txBody>
      </p:sp>
      <p:sp>
        <p:nvSpPr>
          <p:cNvPr id="17" name="Shape 15"/>
          <p:cNvSpPr/>
          <p:nvPr/>
        </p:nvSpPr>
        <p:spPr>
          <a:xfrm>
            <a:off x="557784" y="4838700"/>
            <a:ext cx="91440" cy="9144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46863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Нарушенная техпоследовательность</a:t>
            </a:r>
          </a:p>
        </p:txBody>
      </p:sp>
      <p:sp>
        <p:nvSpPr>
          <p:cNvPr id="19" name="Shape 17"/>
          <p:cNvSpPr/>
          <p:nvPr/>
        </p:nvSpPr>
        <p:spPr>
          <a:xfrm>
            <a:off x="557784" y="5537200"/>
            <a:ext cx="91440" cy="9144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53848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Зазор на переезд и дата выпуска</a:t>
            </a:r>
          </a:p>
        </p:txBody>
      </p:sp>
      <p:sp>
        <p:nvSpPr>
          <p:cNvPr id="21" name="Shape 19"/>
          <p:cNvSpPr/>
          <p:nvPr/>
        </p:nvSpPr>
        <p:spPr>
          <a:xfrm>
            <a:off x="4255008" y="1901952"/>
            <a:ext cx="3678936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5008" y="1901952"/>
            <a:ext cx="3678936" cy="64008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01312" y="2048256"/>
            <a:ext cx="338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проверяет</a:t>
            </a:r>
          </a:p>
        </p:txBody>
      </p:sp>
      <p:sp>
        <p:nvSpPr>
          <p:cNvPr id="24" name="Shape 22"/>
          <p:cNvSpPr/>
          <p:nvPr/>
        </p:nvSpPr>
        <p:spPr>
          <a:xfrm>
            <a:off x="4401312" y="2468880"/>
            <a:ext cx="3386328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1312" y="2743200"/>
            <a:ext cx="91440" cy="91440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4192" y="25908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N-1, потокораспределение, SAIDI</a:t>
            </a:r>
          </a:p>
        </p:txBody>
      </p:sp>
      <p:sp>
        <p:nvSpPr>
          <p:cNvPr id="27" name="Shape 25"/>
          <p:cNvSpPr/>
          <p:nvPr/>
        </p:nvSpPr>
        <p:spPr>
          <a:xfrm>
            <a:off x="4401312" y="3441700"/>
            <a:ext cx="91440" cy="91440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4192" y="32893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SCADA, EMS, GIS, прогноз отказов</a:t>
            </a:r>
          </a:p>
        </p:txBody>
      </p:sp>
      <p:sp>
        <p:nvSpPr>
          <p:cNvPr id="29" name="Shape 27"/>
          <p:cNvSpPr/>
          <p:nvPr/>
        </p:nvSpPr>
        <p:spPr>
          <a:xfrm>
            <a:off x="4401312" y="4140200"/>
            <a:ext cx="91440" cy="91440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84192" y="39878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Трудовое право и ростер смен</a:t>
            </a:r>
          </a:p>
        </p:txBody>
      </p:sp>
      <p:sp>
        <p:nvSpPr>
          <p:cNvPr id="31" name="Shape 29"/>
          <p:cNvSpPr/>
          <p:nvPr/>
        </p:nvSpPr>
        <p:spPr>
          <a:xfrm>
            <a:off x="4401312" y="4838700"/>
            <a:ext cx="91440" cy="91440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4192" y="46863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 ЗИП по ведомости</a:t>
            </a:r>
          </a:p>
        </p:txBody>
      </p:sp>
      <p:sp>
        <p:nvSpPr>
          <p:cNvPr id="33" name="Shape 31"/>
          <p:cNvSpPr/>
          <p:nvPr/>
        </p:nvSpPr>
        <p:spPr>
          <a:xfrm>
            <a:off x="4401312" y="5537200"/>
            <a:ext cx="91440" cy="91440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84192" y="53848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Разветвлённые и сходящиеся цепочки</a:t>
            </a:r>
          </a:p>
        </p:txBody>
      </p:sp>
      <p:sp>
        <p:nvSpPr>
          <p:cNvPr id="35" name="Shape 33"/>
          <p:cNvSpPr/>
          <p:nvPr/>
        </p:nvSpPr>
        <p:spPr>
          <a:xfrm>
            <a:off x="8098536" y="1901952"/>
            <a:ext cx="3678936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98536" y="1901952"/>
            <a:ext cx="3678936" cy="64008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44840" y="2048256"/>
            <a:ext cx="338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отдаёт</a:t>
            </a:r>
          </a:p>
        </p:txBody>
      </p:sp>
      <p:sp>
        <p:nvSpPr>
          <p:cNvPr id="38" name="Shape 36"/>
          <p:cNvSpPr/>
          <p:nvPr/>
        </p:nvSpPr>
        <p:spPr>
          <a:xfrm>
            <a:off x="8244840" y="2468880"/>
            <a:ext cx="3386328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44840" y="2743200"/>
            <a:ext cx="91440" cy="9144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27720" y="25908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0 — план подтверждён</a:t>
            </a:r>
          </a:p>
        </p:txBody>
      </p:sp>
      <p:sp>
        <p:nvSpPr>
          <p:cNvPr id="41" name="Shape 39"/>
          <p:cNvSpPr/>
          <p:nvPr/>
        </p:nvSpPr>
        <p:spPr>
          <a:xfrm>
            <a:off x="8244840" y="3441700"/>
            <a:ext cx="91440" cy="9144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27720" y="32893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2 — нарушение или ошибка ввода</a:t>
            </a:r>
          </a:p>
        </p:txBody>
      </p:sp>
      <p:sp>
        <p:nvSpPr>
          <p:cNvPr id="43" name="Shape 41"/>
          <p:cNvSpPr/>
          <p:nvPr/>
        </p:nvSpPr>
        <p:spPr>
          <a:xfrm>
            <a:off x="8244840" y="4140200"/>
            <a:ext cx="91440" cy="9144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27720" y="39878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JSON-протокол по каждому правилу</a:t>
            </a:r>
          </a:p>
        </p:txBody>
      </p:sp>
      <p:sp>
        <p:nvSpPr>
          <p:cNvPr id="45" name="Shape 43"/>
          <p:cNvSpPr/>
          <p:nvPr/>
        </p:nvSpPr>
        <p:spPr>
          <a:xfrm>
            <a:off x="8244840" y="4838700"/>
            <a:ext cx="91440" cy="9144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27720" y="46863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Отпечаток проверки</a:t>
            </a:r>
          </a:p>
        </p:txBody>
      </p:sp>
      <p:sp>
        <p:nvSpPr>
          <p:cNvPr id="47" name="Shape 45"/>
          <p:cNvSpPr/>
          <p:nvPr/>
        </p:nvSpPr>
        <p:spPr>
          <a:xfrm>
            <a:off x="8244840" y="5537200"/>
            <a:ext cx="91440" cy="9144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27720" y="5384800"/>
            <a:ext cx="3203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Rust: только доменный слой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266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ПОЗИЦИОНИРОВАНИЕ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338328"/>
            <a:ext cx="1136599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Узкий слой: формализуемые ограничения ТОиР и независимая проверка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160020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иллюстративная: охват по публичным описаниям, не рейтинг. Ни одна из систем не является клиентом, партнёром или внедрением GridPlan.</a:t>
            </a:r>
          </a:p>
        </p:txBody>
      </p:sp>
      <p:sp>
        <p:nvSpPr>
          <p:cNvPr id="5" name="Shape 3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11365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5682996" cy="2249424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1901952"/>
            <a:ext cx="5682996" cy="2249424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4151376"/>
            <a:ext cx="5682996" cy="2249424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4476" y="4151376"/>
            <a:ext cx="5682996" cy="2249424"/>
          </a:xfrm>
          <a:prstGeom prst="rect">
            <a:avLst/>
          </a:prstGeom>
          <a:solidFill>
            <a:srgbClr val="EEF3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5332" y="1901952"/>
            <a:ext cx="18288" cy="4498848"/>
          </a:xfrm>
          <a:prstGeom prst="rect">
            <a:avLst/>
          </a:prstGeom>
          <a:solidFill>
            <a:srgbClr val="DCE1E9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4142232"/>
            <a:ext cx="11365992" cy="18288"/>
          </a:xfrm>
          <a:prstGeom prst="rect">
            <a:avLst/>
          </a:prstGeom>
          <a:solidFill>
            <a:srgbClr val="DCE1E9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4825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EAM (полный) 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315968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уровень решений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4224528"/>
            <a:ext cx="40370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универсальный решатель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40780" y="4224528"/>
            <a:ext cx="5408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специализированный сетевой ТОиР 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74520" y="2103120"/>
            <a:ext cx="1920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210312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Maximo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(EAM и планирование)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43116" y="2103120"/>
            <a:ext cx="1920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4556" y="210312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1С:ТОиР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(EAM/ТОиР)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4608576"/>
            <a:ext cx="1920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460857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OR-Tools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(набор решателей)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74520" y="5394960"/>
            <a:ext cx="1737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539496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(оптимизатор)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43116" y="4608576"/>
            <a:ext cx="21945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34556" y="460857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Hydro-Québec TMS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ČEZ · Hexaly — публичный кейс</a:t>
            </a:r>
          </a:p>
        </p:txBody>
      </p:sp>
      <p:sp>
        <p:nvSpPr>
          <p:cNvPr id="27" name="Shape 25"/>
          <p:cNvSpPr/>
          <p:nvPr/>
        </p:nvSpPr>
        <p:spPr>
          <a:xfrm>
            <a:off x="6643116" y="2926080"/>
            <a:ext cx="1920240" cy="749808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3116" y="29260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GridPlan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60236" y="3730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6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 графика и проверка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4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338328"/>
            <a:ext cx="1136599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рисков: то, что закрывает вход в пилот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160020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Приоритеты — инженерный триаж проекта, не CVSS. Ни один из рисков ниже сейчас не снят.</a:t>
            </a:r>
          </a:p>
        </p:txBody>
      </p:sp>
      <p:sp>
        <p:nvSpPr>
          <p:cNvPr id="5" name="Shape 3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11365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6400" y="1901952"/>
            <a:ext cx="3479800" cy="402336"/>
          </a:xfrm>
          <a:prstGeom prst="rect">
            <a:avLst/>
          </a:prstGeom>
          <a:solidFill>
            <a:srgbClr val="161F31"/>
          </a:solidFill>
          <a:ln w="9525">
            <a:solidFill>
              <a:srgbClr val="161F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600" y="1901952"/>
            <a:ext cx="340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1901952"/>
            <a:ext cx="1168400" cy="402336"/>
          </a:xfrm>
          <a:prstGeom prst="rect">
            <a:avLst/>
          </a:prstGeom>
          <a:solidFill>
            <a:srgbClr val="161F31"/>
          </a:solidFill>
          <a:ln w="9525">
            <a:solidFill>
              <a:srgbClr val="161F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62400" y="1901952"/>
            <a:ext cx="1092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54600" y="1901952"/>
            <a:ext cx="1371600" cy="402336"/>
          </a:xfrm>
          <a:prstGeom prst="rect">
            <a:avLst/>
          </a:prstGeom>
          <a:solidFill>
            <a:srgbClr val="161F31"/>
          </a:solidFill>
          <a:ln w="9525">
            <a:solidFill>
              <a:srgbClr val="161F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0800" y="1901952"/>
            <a:ext cx="1295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26200" y="1901952"/>
            <a:ext cx="5359400" cy="402336"/>
          </a:xfrm>
          <a:prstGeom prst="rect">
            <a:avLst/>
          </a:prstGeom>
          <a:solidFill>
            <a:srgbClr val="161F31"/>
          </a:solidFill>
          <a:ln w="9525">
            <a:solidFill>
              <a:srgbClr val="161F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2400" y="1901952"/>
            <a:ext cx="528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Митигация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400" y="2311400"/>
            <a:ext cx="34798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600" y="2311400"/>
            <a:ext cx="34036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владельца процесса ППР и предметного эксперта ТОиР</a:t>
            </a:r>
          </a:p>
        </p:txBody>
      </p:sp>
      <p:sp>
        <p:nvSpPr>
          <p:cNvPr id="17" name="Shape 15"/>
          <p:cNvSpPr/>
          <p:nvPr/>
        </p:nvSpPr>
        <p:spPr>
          <a:xfrm>
            <a:off x="3886200" y="2311400"/>
            <a:ext cx="11684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62400" y="2311400"/>
            <a:ext cx="10922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</a:t>
            </a:r>
          </a:p>
        </p:txBody>
      </p:sp>
      <p:sp>
        <p:nvSpPr>
          <p:cNvPr id="19" name="Shape 17"/>
          <p:cNvSpPr/>
          <p:nvPr/>
        </p:nvSpPr>
        <p:spPr>
          <a:xfrm>
            <a:off x="5054600" y="2311400"/>
            <a:ext cx="13716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0800" y="2311400"/>
            <a:ext cx="12954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Критическое</a:t>
            </a:r>
          </a:p>
        </p:txBody>
      </p:sp>
      <p:sp>
        <p:nvSpPr>
          <p:cNvPr id="21" name="Shape 19"/>
          <p:cNvSpPr/>
          <p:nvPr/>
        </p:nvSpPr>
        <p:spPr>
          <a:xfrm>
            <a:off x="6426200" y="2311400"/>
            <a:ext cx="53594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2400" y="2311400"/>
            <a:ext cx="52832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прямо помечена как «не назначена». Без неё пилот не стартует — остаёмся на лабораторном TRL 4 и говорим это вслух.</a:t>
            </a:r>
          </a:p>
        </p:txBody>
      </p:sp>
      <p:sp>
        <p:nvSpPr>
          <p:cNvPr id="23" name="Shape 21"/>
          <p:cNvSpPr/>
          <p:nvPr/>
        </p:nvSpPr>
        <p:spPr>
          <a:xfrm>
            <a:off x="406400" y="3200400"/>
            <a:ext cx="3479800" cy="889000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600" y="3200400"/>
            <a:ext cx="34036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живых обезличенных выгрузок подразделения</a:t>
            </a:r>
          </a:p>
        </p:txBody>
      </p:sp>
      <p:sp>
        <p:nvSpPr>
          <p:cNvPr id="25" name="Shape 23"/>
          <p:cNvSpPr/>
          <p:nvPr/>
        </p:nvSpPr>
        <p:spPr>
          <a:xfrm>
            <a:off x="3886200" y="3200400"/>
            <a:ext cx="1168400" cy="889000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62400" y="3200400"/>
            <a:ext cx="10922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</a:t>
            </a:r>
          </a:p>
        </p:txBody>
      </p:sp>
      <p:sp>
        <p:nvSpPr>
          <p:cNvPr id="27" name="Shape 25"/>
          <p:cNvSpPr/>
          <p:nvPr/>
        </p:nvSpPr>
        <p:spPr>
          <a:xfrm>
            <a:off x="5054600" y="3200400"/>
            <a:ext cx="1371600" cy="889000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0800" y="3200400"/>
            <a:ext cx="12954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Высокое</a:t>
            </a:r>
          </a:p>
        </p:txBody>
      </p:sp>
      <p:sp>
        <p:nvSpPr>
          <p:cNvPr id="29" name="Shape 27"/>
          <p:cNvSpPr/>
          <p:nvPr/>
        </p:nvSpPr>
        <p:spPr>
          <a:xfrm>
            <a:off x="6426200" y="3200400"/>
            <a:ext cx="5359400" cy="889000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02400" y="3200400"/>
            <a:ext cx="52832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 данных до начала работ: период, состав полей, что исключено. План Б — остаться на синтетике и писать «лаборатория», а не «пилот».</a:t>
            </a:r>
          </a:p>
        </p:txBody>
      </p:sp>
      <p:sp>
        <p:nvSpPr>
          <p:cNvPr id="31" name="Shape 29"/>
          <p:cNvSpPr/>
          <p:nvPr/>
        </p:nvSpPr>
        <p:spPr>
          <a:xfrm>
            <a:off x="406400" y="4089400"/>
            <a:ext cx="34798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600" y="4089400"/>
            <a:ext cx="34036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Адаптер берёт одно окно, а не объединение альтернатив</a:t>
            </a:r>
          </a:p>
        </p:txBody>
      </p:sp>
      <p:sp>
        <p:nvSpPr>
          <p:cNvPr id="33" name="Shape 31"/>
          <p:cNvSpPr/>
          <p:nvPr/>
        </p:nvSpPr>
        <p:spPr>
          <a:xfrm>
            <a:off x="3886200" y="4089400"/>
            <a:ext cx="11684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62400" y="4089400"/>
            <a:ext cx="10922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</a:t>
            </a:r>
          </a:p>
        </p:txBody>
      </p:sp>
      <p:sp>
        <p:nvSpPr>
          <p:cNvPr id="35" name="Shape 33"/>
          <p:cNvSpPr/>
          <p:nvPr/>
        </p:nvSpPr>
        <p:spPr>
          <a:xfrm>
            <a:off x="5054600" y="4089400"/>
            <a:ext cx="13716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0800" y="4089400"/>
            <a:ext cx="12954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Высокое</a:t>
            </a:r>
          </a:p>
        </p:txBody>
      </p:sp>
      <p:sp>
        <p:nvSpPr>
          <p:cNvPr id="37" name="Shape 35"/>
          <p:cNvSpPr/>
          <p:nvPr/>
        </p:nvSpPr>
        <p:spPr>
          <a:xfrm>
            <a:off x="6426200" y="4089400"/>
            <a:ext cx="53594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02400" y="4089400"/>
            <a:ext cx="52832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Записано как граница модели. Неуспех поиска не выдаётся за доказательство невыполнимости, а оптимум CP-SAT относится только к скомпилированной модели.</a:t>
            </a:r>
          </a:p>
        </p:txBody>
      </p:sp>
      <p:sp>
        <p:nvSpPr>
          <p:cNvPr id="39" name="Shape 37"/>
          <p:cNvSpPr/>
          <p:nvPr/>
        </p:nvSpPr>
        <p:spPr>
          <a:xfrm>
            <a:off x="406400" y="4978400"/>
            <a:ext cx="3479800" cy="889000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600" y="4978400"/>
            <a:ext cx="34036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Rust-контур не заменяет проверку движка</a:t>
            </a:r>
          </a:p>
        </p:txBody>
      </p:sp>
      <p:sp>
        <p:nvSpPr>
          <p:cNvPr id="41" name="Shape 39"/>
          <p:cNvSpPr/>
          <p:nvPr/>
        </p:nvSpPr>
        <p:spPr>
          <a:xfrm>
            <a:off x="3886200" y="4978400"/>
            <a:ext cx="1168400" cy="889000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62400" y="4978400"/>
            <a:ext cx="10922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</a:t>
            </a:r>
          </a:p>
        </p:txBody>
      </p:sp>
      <p:sp>
        <p:nvSpPr>
          <p:cNvPr id="43" name="Shape 41"/>
          <p:cNvSpPr/>
          <p:nvPr/>
        </p:nvSpPr>
        <p:spPr>
          <a:xfrm>
            <a:off x="5054600" y="4978400"/>
            <a:ext cx="1371600" cy="889000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0800" y="4978400"/>
            <a:ext cx="12954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Среднее</a:t>
            </a:r>
          </a:p>
        </p:txBody>
      </p:sp>
      <p:sp>
        <p:nvSpPr>
          <p:cNvPr id="45" name="Shape 43"/>
          <p:cNvSpPr/>
          <p:nvPr/>
        </p:nvSpPr>
        <p:spPr>
          <a:xfrm>
            <a:off x="6426200" y="4978400"/>
            <a:ext cx="5359400" cy="889000"/>
          </a:xfrm>
          <a:prstGeom prst="rect">
            <a:avLst/>
          </a:prstGeom>
          <a:solidFill>
            <a:srgbClr val="F7F8FA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02400" y="4978400"/>
            <a:ext cx="52832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Доменные правила Python и Rust сверяются на одном макете. Переезды пока не входят в проверку Rust, поэтому он не подтверждает весь план.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266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338328"/>
            <a:ext cx="1136599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к оценке УГТ 5: теневой пилот и заранее записанный отказ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160020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Сроки сдвигаются, если нет данных. Демо-день программы 14–20 декабря — это не старт пилота на сети.</a:t>
            </a:r>
          </a:p>
        </p:txBody>
      </p:sp>
      <p:sp>
        <p:nvSpPr>
          <p:cNvPr id="5" name="Shape 3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11365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113659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01952"/>
            <a:ext cx="64008" cy="841248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84832"/>
            <a:ext cx="493776" cy="475488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84832"/>
            <a:ext cx="493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24712" y="19933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 0–2 · Контракт данных</a:t>
            </a:r>
          </a:p>
        </p:txBody>
      </p:sp>
      <p:sp>
        <p:nvSpPr>
          <p:cNvPr id="12" name="Text 10"/>
          <p:cNvSpPr/>
          <p:nvPr/>
        </p:nvSpPr>
        <p:spPr>
          <a:xfrm>
            <a:off x="1124712" y="235915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66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Артефакт: словарь полей и правил</a:t>
            </a:r>
          </a:p>
        </p:txBody>
      </p:sp>
      <p:sp>
        <p:nvSpPr>
          <p:cNvPr id="13" name="Text 11"/>
          <p:cNvSpPr/>
          <p:nvPr/>
        </p:nvSpPr>
        <p:spPr>
          <a:xfrm>
            <a:off x="4800600" y="1993392"/>
            <a:ext cx="6976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работ, смысл «окна», правила заморозки ПЛ, ЗИП и переездов. Для каждого правила указан владелец.</a:t>
            </a:r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113659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834640"/>
            <a:ext cx="64008" cy="841248"/>
          </a:xfrm>
          <a:prstGeom prst="rect">
            <a:avLst/>
          </a:prstGeom>
          <a:solidFill>
            <a:srgbClr val="00BCD4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017520"/>
            <a:ext cx="493776" cy="475488"/>
          </a:xfrm>
          <a:prstGeom prst="rect">
            <a:avLst/>
          </a:prstGeom>
          <a:solidFill>
            <a:srgbClr val="00BCD4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17520"/>
            <a:ext cx="493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2926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 2–4 · Исходный график и контрольный метод</a:t>
            </a:r>
          </a:p>
        </p:txBody>
      </p:sp>
      <p:sp>
        <p:nvSpPr>
          <p:cNvPr id="19" name="Text 17"/>
          <p:cNvSpPr/>
          <p:nvPr/>
        </p:nvSpPr>
        <p:spPr>
          <a:xfrm>
            <a:off x="1124712" y="329184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Артефакт: ретроспектива на срезе</a:t>
            </a:r>
          </a:p>
        </p:txBody>
      </p:sp>
      <p:sp>
        <p:nvSpPr>
          <p:cNvPr id="20" name="Text 18"/>
          <p:cNvSpPr/>
          <p:nvPr/>
        </p:nvSpPr>
        <p:spPr>
          <a:xfrm>
            <a:off x="4800600" y="2926080"/>
            <a:ext cx="6976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Исторический график и ручной метод на том же горизонте и том же бюджете времени, что и решатель.</a:t>
            </a:r>
          </a:p>
        </p:txBody>
      </p:sp>
      <p:sp>
        <p:nvSpPr>
          <p:cNvPr id="21" name="Shape 19"/>
          <p:cNvSpPr/>
          <p:nvPr/>
        </p:nvSpPr>
        <p:spPr>
          <a:xfrm>
            <a:off x="411480" y="3767328"/>
            <a:ext cx="113659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767328"/>
            <a:ext cx="64008" cy="841248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950208"/>
            <a:ext cx="493776" cy="475488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50208"/>
            <a:ext cx="493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24712" y="3858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 4–8 · Теневой контур</a:t>
            </a:r>
          </a:p>
        </p:txBody>
      </p:sp>
      <p:sp>
        <p:nvSpPr>
          <p:cNvPr id="26" name="Text 24"/>
          <p:cNvSpPr/>
          <p:nvPr/>
        </p:nvSpPr>
        <p:spPr>
          <a:xfrm>
            <a:off x="1124712" y="422452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Артефакт: журнал расхождений</a:t>
            </a:r>
          </a:p>
        </p:txBody>
      </p:sp>
      <p:sp>
        <p:nvSpPr>
          <p:cNvPr id="27" name="Text 25"/>
          <p:cNvSpPr/>
          <p:nvPr/>
        </p:nvSpPr>
        <p:spPr>
          <a:xfrm>
            <a:off x="4800600" y="3858768"/>
            <a:ext cx="6976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 не идёт в наряд и не управляет оборудованием. Разбор расхождений с диспетчером, ИТ и ИБ.</a:t>
            </a:r>
          </a:p>
        </p:txBody>
      </p:sp>
      <p:sp>
        <p:nvSpPr>
          <p:cNvPr id="28" name="Shape 26"/>
          <p:cNvSpPr/>
          <p:nvPr/>
        </p:nvSpPr>
        <p:spPr>
          <a:xfrm>
            <a:off x="411480" y="4700016"/>
            <a:ext cx="113659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700016"/>
            <a:ext cx="64008" cy="841248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882896"/>
            <a:ext cx="493776" cy="475488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882896"/>
            <a:ext cx="493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24712" y="47914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Решение о запуске</a:t>
            </a:r>
          </a:p>
        </p:txBody>
      </p:sp>
      <p:sp>
        <p:nvSpPr>
          <p:cNvPr id="33" name="Text 31"/>
          <p:cNvSpPr/>
          <p:nvPr/>
        </p:nvSpPr>
        <p:spPr>
          <a:xfrm>
            <a:off x="1124712" y="515721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4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Артефакт: протокол с версией кода и хешем среза</a:t>
            </a:r>
          </a:p>
        </p:txBody>
      </p:sp>
      <p:sp>
        <p:nvSpPr>
          <p:cNvPr id="34" name="Text 32"/>
          <p:cNvSpPr/>
          <p:nvPr/>
        </p:nvSpPr>
        <p:spPr>
          <a:xfrm>
            <a:off x="4800600" y="4791456"/>
            <a:ext cx="6976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возможен только при пяти условиях одновременно. Нет данных или требуется N-1 / SAIDI от ядра — честный отказ.</a:t>
            </a:r>
          </a:p>
        </p:txBody>
      </p:sp>
      <p:sp>
        <p:nvSpPr>
          <p:cNvPr id="35" name="Shape 33"/>
          <p:cNvSpPr/>
          <p:nvPr/>
        </p:nvSpPr>
        <p:spPr>
          <a:xfrm>
            <a:off x="411480" y="5632704"/>
            <a:ext cx="113659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5632704"/>
            <a:ext cx="64008" cy="841248"/>
          </a:xfrm>
          <a:prstGeom prst="rect">
            <a:avLst/>
          </a:prstGeom>
          <a:solidFill>
            <a:srgbClr val="6B7280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5815584"/>
            <a:ext cx="493776" cy="475488"/>
          </a:xfrm>
          <a:prstGeom prst="rect">
            <a:avLst/>
          </a:prstGeom>
          <a:solidFill>
            <a:srgbClr val="6B7280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5815584"/>
            <a:ext cx="493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24712" y="57241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запуска · оценка УГТ5</a:t>
            </a:r>
          </a:p>
        </p:txBody>
      </p:sp>
      <p:sp>
        <p:nvSpPr>
          <p:cNvPr id="40" name="Text 38"/>
          <p:cNvSpPr/>
          <p:nvPr/>
        </p:nvSpPr>
        <p:spPr>
          <a:xfrm>
            <a:off x="1124712" y="608990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Артефакт: матрица УГТ и документация</a:t>
            </a:r>
          </a:p>
        </p:txBody>
      </p:sp>
      <p:sp>
        <p:nvSpPr>
          <p:cNvPr id="41" name="Text 39"/>
          <p:cNvSpPr/>
          <p:nvPr/>
        </p:nvSpPr>
        <p:spPr>
          <a:xfrm>
            <a:off x="4800600" y="5724144"/>
            <a:ext cx="6976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Испытание в окружении, близком к реальному, по ГОСТ Р 58048. Сертификата и аттестации это не даёт.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266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338328"/>
            <a:ext cx="1136599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 владелец процесса ТОиР и согласованный срез данных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160020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Просим не «подписать пилот в декабре», а дать эксперта, данные и заранее записанный критерий отказа.</a:t>
            </a:r>
          </a:p>
        </p:txBody>
      </p:sp>
      <p:sp>
        <p:nvSpPr>
          <p:cNvPr id="5" name="Shape 3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11365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5582412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01952"/>
            <a:ext cx="5582412" cy="64008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066544"/>
            <a:ext cx="52532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Владелец процесса ППР</a:t>
            </a:r>
          </a:p>
        </p:txBody>
      </p:sp>
      <p:sp>
        <p:nvSpPr>
          <p:cNvPr id="10" name="Shape 8"/>
          <p:cNvSpPr/>
          <p:nvPr/>
        </p:nvSpPr>
        <p:spPr>
          <a:xfrm>
            <a:off x="576072" y="2542032"/>
            <a:ext cx="5253228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832100"/>
            <a:ext cx="91440" cy="9144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692400"/>
            <a:ext cx="5070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ограничений и их приоритет</a:t>
            </a:r>
          </a:p>
        </p:txBody>
      </p:sp>
      <p:sp>
        <p:nvSpPr>
          <p:cNvPr id="13" name="Shape 11"/>
          <p:cNvSpPr/>
          <p:nvPr/>
        </p:nvSpPr>
        <p:spPr>
          <a:xfrm>
            <a:off x="576072" y="3619500"/>
            <a:ext cx="91440" cy="9144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479800"/>
            <a:ext cx="5070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Приёмка и совместное решение о запуске или отказе</a:t>
            </a:r>
          </a:p>
        </p:txBody>
      </p:sp>
      <p:sp>
        <p:nvSpPr>
          <p:cNvPr id="15" name="Shape 13"/>
          <p:cNvSpPr/>
          <p:nvPr/>
        </p:nvSpPr>
        <p:spPr>
          <a:xfrm>
            <a:off x="576072" y="4406900"/>
            <a:ext cx="91440" cy="9144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4267200"/>
            <a:ext cx="5070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корректности кандидата графика</a:t>
            </a:r>
          </a:p>
        </p:txBody>
      </p:sp>
      <p:sp>
        <p:nvSpPr>
          <p:cNvPr id="17" name="Shape 15"/>
          <p:cNvSpPr/>
          <p:nvPr/>
        </p:nvSpPr>
        <p:spPr>
          <a:xfrm>
            <a:off x="576072" y="5194300"/>
            <a:ext cx="91440" cy="9144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5054600"/>
            <a:ext cx="5070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Сейчас: роль не назначена</a:t>
            </a:r>
          </a:p>
        </p:txBody>
      </p:sp>
      <p:sp>
        <p:nvSpPr>
          <p:cNvPr id="19" name="Shape 17"/>
          <p:cNvSpPr/>
          <p:nvPr/>
        </p:nvSpPr>
        <p:spPr>
          <a:xfrm>
            <a:off x="6195060" y="1901952"/>
            <a:ext cx="5582412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1901952"/>
            <a:ext cx="5582412" cy="64008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9652" y="2066544"/>
            <a:ext cx="52532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Срез данных и интегратор</a:t>
            </a:r>
          </a:p>
        </p:txBody>
      </p:sp>
      <p:sp>
        <p:nvSpPr>
          <p:cNvPr id="22" name="Shape 20"/>
          <p:cNvSpPr/>
          <p:nvPr/>
        </p:nvSpPr>
        <p:spPr>
          <a:xfrm>
            <a:off x="6359652" y="2542032"/>
            <a:ext cx="5253228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9652" y="2832100"/>
            <a:ext cx="91440" cy="9144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2532" y="2692400"/>
            <a:ext cx="5070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Обезличенная выгрузка одного подразделения</a:t>
            </a:r>
          </a:p>
        </p:txBody>
      </p:sp>
      <p:sp>
        <p:nvSpPr>
          <p:cNvPr id="25" name="Shape 23"/>
          <p:cNvSpPr/>
          <p:nvPr/>
        </p:nvSpPr>
        <p:spPr>
          <a:xfrm>
            <a:off x="6359652" y="3619500"/>
            <a:ext cx="91440" cy="9144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2532" y="3479800"/>
            <a:ext cx="5070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владельца: период, поля, что исключено</a:t>
            </a:r>
          </a:p>
        </p:txBody>
      </p:sp>
      <p:sp>
        <p:nvSpPr>
          <p:cNvPr id="27" name="Shape 25"/>
          <p:cNvSpPr/>
          <p:nvPr/>
        </p:nvSpPr>
        <p:spPr>
          <a:xfrm>
            <a:off x="6359652" y="4406900"/>
            <a:ext cx="91440" cy="9144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2532" y="4267200"/>
            <a:ext cx="5070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Передача по согласованному каналу и договору</a:t>
            </a:r>
          </a:p>
        </p:txBody>
      </p:sp>
      <p:sp>
        <p:nvSpPr>
          <p:cNvPr id="29" name="Shape 27"/>
          <p:cNvSpPr/>
          <p:nvPr/>
        </p:nvSpPr>
        <p:spPr>
          <a:xfrm>
            <a:off x="6359652" y="5194300"/>
            <a:ext cx="91440" cy="9144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2532" y="5054600"/>
            <a:ext cx="5070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Сейчас: живых выгрузок нет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4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ФИНАНСИРОВАНИЕ  ·  ПРЕДМЕТ СОГЛАСОВАНИЯ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338328"/>
            <a:ext cx="1136599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 млн ₽ — если приз присудят, а не «два инженера по 750»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160020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Опубликованный потолок призового финансирования, </a:t>
            </a:r>
            <a:r>
              <a:rPr lang="en-US" sz="12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анонс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СПбПУ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Не выплата GridPlan, не грант и не оферта заказчику.</a:t>
            </a:r>
          </a:p>
        </p:txBody>
      </p:sp>
      <p:sp>
        <p:nvSpPr>
          <p:cNvPr id="5" name="Shape 3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11365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6400" y="1905000"/>
            <a:ext cx="69469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8800" y="1955800"/>
            <a:ext cx="46482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Доменная формализация и данные</a:t>
            </a:r>
          </a:p>
        </p:txBody>
      </p:sp>
      <p:sp>
        <p:nvSpPr>
          <p:cNvPr id="9" name="Shape 7"/>
          <p:cNvSpPr/>
          <p:nvPr/>
        </p:nvSpPr>
        <p:spPr>
          <a:xfrm>
            <a:off x="558800" y="2273300"/>
            <a:ext cx="4660900" cy="177800"/>
          </a:xfrm>
          <a:prstGeom prst="rect">
            <a:avLst/>
          </a:prstGeom>
          <a:solidFill>
            <a:srgbClr val="E5E7EB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800" y="2273300"/>
            <a:ext cx="3995057" cy="177800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95900" y="1955800"/>
            <a:ext cx="19177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66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тыс. ₽</a:t>
            </a:r>
          </a:p>
        </p:txBody>
      </p:sp>
      <p:sp>
        <p:nvSpPr>
          <p:cNvPr id="12" name="Shape 10"/>
          <p:cNvSpPr/>
          <p:nvPr/>
        </p:nvSpPr>
        <p:spPr>
          <a:xfrm>
            <a:off x="406400" y="2565400"/>
            <a:ext cx="69469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8800" y="2616200"/>
            <a:ext cx="46482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Решатель, проверка и тесты</a:t>
            </a:r>
          </a:p>
        </p:txBody>
      </p:sp>
      <p:sp>
        <p:nvSpPr>
          <p:cNvPr id="14" name="Shape 12"/>
          <p:cNvSpPr/>
          <p:nvPr/>
        </p:nvSpPr>
        <p:spPr>
          <a:xfrm>
            <a:off x="558800" y="2933700"/>
            <a:ext cx="4660900" cy="177800"/>
          </a:xfrm>
          <a:prstGeom prst="rect">
            <a:avLst/>
          </a:prstGeom>
          <a:solidFill>
            <a:srgbClr val="E5E7EB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8800" y="2933700"/>
            <a:ext cx="4660900" cy="177800"/>
          </a:xfrm>
          <a:prstGeom prst="rect">
            <a:avLst/>
          </a:prstGeom>
          <a:solidFill>
            <a:srgbClr val="00BCD4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95900" y="2616200"/>
            <a:ext cx="19177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тыс. ₽</a:t>
            </a:r>
          </a:p>
        </p:txBody>
      </p:sp>
      <p:sp>
        <p:nvSpPr>
          <p:cNvPr id="17" name="Shape 15"/>
          <p:cNvSpPr/>
          <p:nvPr/>
        </p:nvSpPr>
        <p:spPr>
          <a:xfrm>
            <a:off x="406400" y="3225800"/>
            <a:ext cx="69469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800" y="3276600"/>
            <a:ext cx="46482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и установка в контуре заказчика</a:t>
            </a:r>
          </a:p>
        </p:txBody>
      </p:sp>
      <p:sp>
        <p:nvSpPr>
          <p:cNvPr id="19" name="Shape 17"/>
          <p:cNvSpPr/>
          <p:nvPr/>
        </p:nvSpPr>
        <p:spPr>
          <a:xfrm>
            <a:off x="558800" y="3594100"/>
            <a:ext cx="4660900" cy="177800"/>
          </a:xfrm>
          <a:prstGeom prst="rect">
            <a:avLst/>
          </a:prstGeom>
          <a:solidFill>
            <a:srgbClr val="E5E7EB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8800" y="3594100"/>
            <a:ext cx="3995057" cy="177800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95900" y="3276600"/>
            <a:ext cx="19177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тыс. ₽</a:t>
            </a:r>
          </a:p>
        </p:txBody>
      </p:sp>
      <p:sp>
        <p:nvSpPr>
          <p:cNvPr id="22" name="Shape 20"/>
          <p:cNvSpPr/>
          <p:nvPr/>
        </p:nvSpPr>
        <p:spPr>
          <a:xfrm>
            <a:off x="406400" y="3886200"/>
            <a:ext cx="69469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8800" y="3937000"/>
            <a:ext cx="46482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ИБ, журнал, документация</a:t>
            </a:r>
          </a:p>
        </p:txBody>
      </p:sp>
      <p:sp>
        <p:nvSpPr>
          <p:cNvPr id="24" name="Shape 22"/>
          <p:cNvSpPr/>
          <p:nvPr/>
        </p:nvSpPr>
        <p:spPr>
          <a:xfrm>
            <a:off x="558800" y="4254500"/>
            <a:ext cx="4660900" cy="177800"/>
          </a:xfrm>
          <a:prstGeom prst="rect">
            <a:avLst/>
          </a:prstGeom>
          <a:solidFill>
            <a:srgbClr val="E5E7EB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8800" y="4254500"/>
            <a:ext cx="2663371" cy="177800"/>
          </a:xfrm>
          <a:prstGeom prst="rect">
            <a:avLst/>
          </a:prstGeom>
          <a:solidFill>
            <a:srgbClr val="6B7280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95900" y="3937000"/>
            <a:ext cx="19177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тыс. ₽</a:t>
            </a:r>
          </a:p>
        </p:txBody>
      </p:sp>
      <p:sp>
        <p:nvSpPr>
          <p:cNvPr id="27" name="Shape 25"/>
          <p:cNvSpPr/>
          <p:nvPr/>
        </p:nvSpPr>
        <p:spPr>
          <a:xfrm>
            <a:off x="406400" y="4546600"/>
            <a:ext cx="69469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8800" y="4597400"/>
            <a:ext cx="46482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Проведение тени и оценка</a:t>
            </a:r>
          </a:p>
        </p:txBody>
      </p:sp>
      <p:sp>
        <p:nvSpPr>
          <p:cNvPr id="29" name="Shape 27"/>
          <p:cNvSpPr/>
          <p:nvPr/>
        </p:nvSpPr>
        <p:spPr>
          <a:xfrm>
            <a:off x="558800" y="4914900"/>
            <a:ext cx="4660900" cy="177800"/>
          </a:xfrm>
          <a:prstGeom prst="rect">
            <a:avLst/>
          </a:prstGeom>
          <a:solidFill>
            <a:srgbClr val="E5E7EB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8800" y="4914900"/>
            <a:ext cx="2663371" cy="177800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95900" y="4597400"/>
            <a:ext cx="19177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тыс. ₽</a:t>
            </a:r>
          </a:p>
        </p:txBody>
      </p:sp>
      <p:sp>
        <p:nvSpPr>
          <p:cNvPr id="32" name="Shape 30"/>
          <p:cNvSpPr/>
          <p:nvPr/>
        </p:nvSpPr>
        <p:spPr>
          <a:xfrm>
            <a:off x="406400" y="5867400"/>
            <a:ext cx="6946900" cy="533400"/>
          </a:xfrm>
          <a:prstGeom prst="rect">
            <a:avLst/>
          </a:prstGeom>
          <a:solidFill>
            <a:srgbClr val="161F31"/>
          </a:solidFill>
          <a:ln w="9525">
            <a:solidFill>
              <a:srgbClr val="161F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" y="5880100"/>
            <a:ext cx="25654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</a:t>
            </a:r>
          </a:p>
        </p:txBody>
      </p:sp>
      <p:sp>
        <p:nvSpPr>
          <p:cNvPr id="34" name="Text 32"/>
          <p:cNvSpPr/>
          <p:nvPr/>
        </p:nvSpPr>
        <p:spPr>
          <a:xfrm>
            <a:off x="4978400" y="5880100"/>
            <a:ext cx="22479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1 500 тыс. ₽</a:t>
            </a:r>
          </a:p>
        </p:txBody>
      </p:sp>
      <p:sp>
        <p:nvSpPr>
          <p:cNvPr id="35" name="Shape 33"/>
          <p:cNvSpPr/>
          <p:nvPr/>
        </p:nvSpPr>
        <p:spPr>
          <a:xfrm>
            <a:off x="7562088" y="1901952"/>
            <a:ext cx="4215384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62088" y="1901952"/>
            <a:ext cx="4215384" cy="64008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08392" y="2048256"/>
            <a:ext cx="3922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расчёта</a:t>
            </a:r>
          </a:p>
        </p:txBody>
      </p:sp>
      <p:sp>
        <p:nvSpPr>
          <p:cNvPr id="38" name="Shape 36"/>
          <p:cNvSpPr/>
          <p:nvPr/>
        </p:nvSpPr>
        <p:spPr>
          <a:xfrm>
            <a:off x="7708392" y="2468880"/>
            <a:ext cx="3922776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08392" y="2761488"/>
            <a:ext cx="91440" cy="91440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91272" y="2615184"/>
            <a:ext cx="3739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Рабочая оценка — не расчёт трудозатрат</a:t>
            </a:r>
          </a:p>
        </p:txBody>
      </p:sp>
      <p:sp>
        <p:nvSpPr>
          <p:cNvPr id="41" name="Shape 39"/>
          <p:cNvSpPr/>
          <p:nvPr/>
        </p:nvSpPr>
        <p:spPr>
          <a:xfrm>
            <a:off x="7708392" y="3310128"/>
            <a:ext cx="91440" cy="91440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91272" y="3163824"/>
            <a:ext cx="3739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Потенциальный чек ₽8–25 млн — цель, не оферта</a:t>
            </a:r>
          </a:p>
        </p:txBody>
      </p:sp>
      <p:sp>
        <p:nvSpPr>
          <p:cNvPr id="43" name="Shape 41"/>
          <p:cNvSpPr/>
          <p:nvPr/>
        </p:nvSpPr>
        <p:spPr>
          <a:xfrm>
            <a:off x="7708392" y="3858768"/>
            <a:ext cx="91440" cy="91440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91272" y="3712464"/>
            <a:ext cx="3739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Грант 410-ПП до ₽4 млн — потолок меры МИК</a:t>
            </a:r>
          </a:p>
        </p:txBody>
      </p:sp>
      <p:sp>
        <p:nvSpPr>
          <p:cNvPr id="45" name="Shape 43"/>
          <p:cNvSpPr/>
          <p:nvPr/>
        </p:nvSpPr>
        <p:spPr>
          <a:xfrm>
            <a:off x="7708392" y="4407408"/>
            <a:ext cx="91440" cy="91440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91272" y="4261104"/>
            <a:ext cx="3739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Энерготехнохаб и не наш грант</a:t>
            </a:r>
          </a:p>
        </p:txBody>
      </p:sp>
      <p:sp>
        <p:nvSpPr>
          <p:cNvPr id="47" name="Shape 45"/>
          <p:cNvSpPr/>
          <p:nvPr/>
        </p:nvSpPr>
        <p:spPr>
          <a:xfrm>
            <a:off x="7708392" y="4956048"/>
            <a:ext cx="91440" cy="91440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91272" y="4809744"/>
            <a:ext cx="3739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бюджета — рабочая гипотеза.</a:t>
            </a:r>
          </a:p>
        </p:txBody>
      </p:sp>
      <p:sp>
        <p:nvSpPr>
          <p:cNvPr id="900" name="Shape 25_r6"/>
          <p:cNvSpPr/>
          <p:nvPr/>
        </p:nvSpPr>
        <p:spPr>
          <a:xfrm>
            <a:off x="406400" y="5207000"/>
            <a:ext cx="69469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901" name="Text 26_r6"/>
          <p:cNvSpPr/>
          <p:nvPr/>
        </p:nvSpPr>
        <p:spPr>
          <a:xfrm>
            <a:off x="558800" y="5257800"/>
            <a:ext cx="46482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Права, юридические расходы, резерв</a:t>
            </a:r>
          </a:p>
        </p:txBody>
      </p:sp>
      <p:sp>
        <p:nvSpPr>
          <p:cNvPr id="902" name="Shape 27_r6"/>
          <p:cNvSpPr/>
          <p:nvPr/>
        </p:nvSpPr>
        <p:spPr>
          <a:xfrm>
            <a:off x="558800" y="5575300"/>
            <a:ext cx="4660900" cy="177800"/>
          </a:xfrm>
          <a:prstGeom prst="rect">
            <a:avLst/>
          </a:prstGeom>
          <a:solidFill>
            <a:srgbClr val="E5E7EB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903" name="Shape 28_r6"/>
          <p:cNvSpPr/>
          <p:nvPr/>
        </p:nvSpPr>
        <p:spPr>
          <a:xfrm>
            <a:off x="558800" y="5575300"/>
            <a:ext cx="1997528" cy="177800"/>
          </a:xfrm>
          <a:prstGeom prst="rect">
            <a:avLst/>
          </a:prstGeom>
          <a:solidFill>
            <a:srgbClr val="F4A623"/>
          </a:solidFill>
          <a:ln w="9525">
            <a:solidFill>
              <a:srgbClr val="F4A623"/>
            </a:solidFill>
            <a:prstDash val="solid"/>
          </a:ln>
        </p:spPr>
      </p:sp>
      <p:sp>
        <p:nvSpPr>
          <p:cNvPr id="904" name="Text 29_r6"/>
          <p:cNvSpPr/>
          <p:nvPr/>
        </p:nvSpPr>
        <p:spPr>
          <a:xfrm>
            <a:off x="5295900" y="5257800"/>
            <a:ext cx="19177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тыс. 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ГРАНИЦЫ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338328"/>
            <a:ext cx="1136599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снято из прошлых версий дека — и почему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160020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Цифры и границы сверены с репозиторием проекта. Формулировки ниже не используем в заявке.</a:t>
            </a:r>
          </a:p>
        </p:txBody>
      </p:sp>
      <p:sp>
        <p:nvSpPr>
          <p:cNvPr id="5" name="Shape 3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11365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3666744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01952"/>
            <a:ext cx="3666744" cy="64008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02996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6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</a:p>
        </p:txBody>
      </p:sp>
      <p:sp>
        <p:nvSpPr>
          <p:cNvPr id="10" name="Text 8"/>
          <p:cNvSpPr/>
          <p:nvPr/>
        </p:nvSpPr>
        <p:spPr>
          <a:xfrm>
            <a:off x="576072" y="265176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Нормативные</a:t>
            </a:r>
          </a:p>
        </p:txBody>
      </p:sp>
      <p:sp>
        <p:nvSpPr>
          <p:cNvPr id="11" name="Text 9"/>
          <p:cNvSpPr/>
          <p:nvPr/>
        </p:nvSpPr>
        <p:spPr>
          <a:xfrm>
            <a:off x="576072" y="3236976"/>
            <a:ext cx="3337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«ГОСТ Р 58048 §5 = чередование смен» — стандарт это методика УГТ, а не трудовое право. «Соответствие 187-ФЗ» — закон от 26.07.2017, аттестата КИИ нет. ISO 16290 TRL 4 — самооценка по космической шкале, не сертификат энергетики.</a:t>
            </a:r>
          </a:p>
          <a:p>
            <a:pPr marL="0" indent="0">
              <a:buNone/>
            </a:pPr>
            <a:endParaRPr lang="en-US" sz="12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этого: самооценка УГТ4 по методике. УГТ5 пока не заявляется.</a:t>
            </a:r>
          </a:p>
        </p:txBody>
      </p:sp>
      <p:sp>
        <p:nvSpPr>
          <p:cNvPr id="12" name="Shape 10"/>
          <p:cNvSpPr/>
          <p:nvPr/>
        </p:nvSpPr>
        <p:spPr>
          <a:xfrm>
            <a:off x="4261104" y="1901952"/>
            <a:ext cx="3666744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1901952"/>
            <a:ext cx="3666744" cy="64008"/>
          </a:xfrm>
          <a:prstGeom prst="rect">
            <a:avLst/>
          </a:prstGeom>
          <a:solidFill>
            <a:srgbClr val="18A474"/>
          </a:solidFill>
          <a:ln w="9525">
            <a:solidFill>
              <a:srgbClr val="18A4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5696" y="202996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A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</a:p>
        </p:txBody>
      </p:sp>
      <p:sp>
        <p:nvSpPr>
          <p:cNvPr id="15" name="Text 13"/>
          <p:cNvSpPr/>
          <p:nvPr/>
        </p:nvSpPr>
        <p:spPr>
          <a:xfrm>
            <a:off x="4425696" y="265176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Количественные</a:t>
            </a:r>
          </a:p>
        </p:txBody>
      </p:sp>
      <p:sp>
        <p:nvSpPr>
          <p:cNvPr id="16" name="Text 14"/>
          <p:cNvSpPr/>
          <p:nvPr/>
        </p:nvSpPr>
        <p:spPr>
          <a:xfrm>
            <a:off x="4425696" y="3236976"/>
            <a:ext cx="3337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312 диспетчеров и 84.8% — первичных данных нет. «GREED 100% против GPT 55.9%» — чужой SCHEDBench на 1132 текстовых задачах, другая шкала. «CP-SAT 4.2 часа» — такого протокола не существует.</a:t>
            </a:r>
          </a:p>
          <a:p>
            <a:pPr marL="0" indent="0">
              <a:buNone/>
            </a:pPr>
            <a:endParaRPr lang="en-US" sz="12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этого: FIFO 107 / GREED 0 / CP-SAT — оптимум на одном синтетическом макете.</a:t>
            </a:r>
          </a:p>
        </p:txBody>
      </p:sp>
      <p:sp>
        <p:nvSpPr>
          <p:cNvPr id="17" name="Shape 15"/>
          <p:cNvSpPr/>
          <p:nvPr/>
        </p:nvSpPr>
        <p:spPr>
          <a:xfrm>
            <a:off x="8110728" y="1901952"/>
            <a:ext cx="3666744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0728" y="1901952"/>
            <a:ext cx="3666744" cy="64008"/>
          </a:xfrm>
          <a:prstGeom prst="rect">
            <a:avLst/>
          </a:prstGeom>
          <a:solidFill>
            <a:srgbClr val="00BCD4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02996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</a:p>
        </p:txBody>
      </p:sp>
      <p:sp>
        <p:nvSpPr>
          <p:cNvPr id="20" name="Text 18"/>
          <p:cNvSpPr/>
          <p:nvPr/>
        </p:nvSpPr>
        <p:spPr>
          <a:xfrm>
            <a:off x="8275320" y="265176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Партнёрства и охват</a:t>
            </a:r>
          </a:p>
        </p:txBody>
      </p:sp>
      <p:sp>
        <p:nvSpPr>
          <p:cNvPr id="21" name="Text 19"/>
          <p:cNvSpPr/>
          <p:nvPr/>
        </p:nvSpPr>
        <p:spPr>
          <a:xfrm>
            <a:off x="8275320" y="3236976"/>
            <a:ext cx="3337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ПАО «Россети», Энерготехнохаб и Россети ИЦ — не партнёры и не заказчики GridPlan. «2300 РЭС», интеграции, облачная инфраструктура и плагин 1С — планируемые функции; сейчас доступен командный интерфейс.</a:t>
            </a:r>
          </a:p>
          <a:p>
            <a:pPr marL="0" indent="0">
              <a:buNone/>
            </a:pPr>
            <a:endParaRPr lang="en-US" sz="12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этого: «целевой заказчик» и «программа подачи», а функции разделены на готовые, экспериментальные и планируемые.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· ИП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338328"/>
            <a:ext cx="1136599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построено и воспроизводимо. Дыры названы прямо.</a:t>
            </a:r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9672"/>
            <a:ext cx="11365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SynAPS-GridPlan  ·  Коньков Дмитрий  ·  konkov-dmitrij@yandex.ru</a:t>
            </a:r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548640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45920"/>
            <a:ext cx="5486400" cy="64008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92224"/>
            <a:ext cx="5157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Коньков</a:t>
            </a:r>
            <a:r>
              <a:rPr lang="en-US" sz="20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</a:t>
            </a:r>
            <a:r>
              <a:rPr lang="ru-RU" sz="20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й, Конькова Елена</a:t>
            </a:r>
          </a:p>
        </p:txBody>
      </p:sp>
      <p:sp>
        <p:nvSpPr>
          <p:cNvPr id="9" name="Text 7"/>
          <p:cNvSpPr/>
          <p:nvPr/>
        </p:nvSpPr>
        <p:spPr>
          <a:xfrm>
            <a:off x="576072" y="2267712"/>
            <a:ext cx="5157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Алгоритмическое ядро, архитектура, автоматизация проверок</a:t>
            </a:r>
          </a:p>
        </p:txBody>
      </p:sp>
      <p:sp>
        <p:nvSpPr>
          <p:cNvPr id="10" name="Shape 8"/>
          <p:cNvSpPr/>
          <p:nvPr/>
        </p:nvSpPr>
        <p:spPr>
          <a:xfrm>
            <a:off x="576072" y="2615184"/>
            <a:ext cx="5157216" cy="0"/>
          </a:xfrm>
          <a:prstGeom prst="line">
            <a:avLst/>
          </a:prstGeom>
          <a:noFill/>
          <a:ln w="9525">
            <a:solidFill>
              <a:srgbClr val="DCE1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743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Компетенции</a:t>
            </a:r>
          </a:p>
        </p:txBody>
      </p:sp>
      <p:sp>
        <p:nvSpPr>
          <p:cNvPr id="12" name="Text 10"/>
          <p:cNvSpPr/>
          <p:nvPr/>
        </p:nvSpPr>
        <p:spPr>
          <a:xfrm>
            <a:off x="576072" y="2999232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CSP, Python, Rust, автоматизация сборки</a:t>
            </a:r>
          </a:p>
        </p:txBody>
      </p:sp>
      <p:sp>
        <p:nvSpPr>
          <p:cNvPr id="13" name="Text 11"/>
          <p:cNvSpPr/>
          <p:nvPr/>
        </p:nvSpPr>
        <p:spPr>
          <a:xfrm>
            <a:off x="576072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</a:t>
            </a:r>
          </a:p>
        </p:txBody>
      </p:sp>
      <p:sp>
        <p:nvSpPr>
          <p:cNvPr id="14" name="Text 12"/>
          <p:cNvSpPr/>
          <p:nvPr/>
        </p:nvSpPr>
        <p:spPr>
          <a:xfrm>
            <a:off x="576072" y="3712464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github.com/KonkovDV/SynAPS-GridPlan</a:t>
            </a:r>
          </a:p>
        </p:txBody>
      </p:sp>
      <p:sp>
        <p:nvSpPr>
          <p:cNvPr id="15" name="Text 13"/>
          <p:cNvSpPr/>
          <p:nvPr/>
        </p:nvSpPr>
        <p:spPr>
          <a:xfrm>
            <a:off x="576072" y="4169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Срез проекта</a:t>
            </a:r>
          </a:p>
        </p:txBody>
      </p:sp>
      <p:sp>
        <p:nvSpPr>
          <p:cNvPr id="16" name="Text 14"/>
          <p:cNvSpPr/>
          <p:nvPr/>
        </p:nvSpPr>
        <p:spPr>
          <a:xfrm>
            <a:off x="576072" y="4425696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0.1.8</a:t>
            </a:r>
          </a:p>
        </p:txBody>
      </p:sp>
      <p:sp>
        <p:nvSpPr>
          <p:cNvPr id="17" name="Text 15"/>
          <p:cNvSpPr/>
          <p:nvPr/>
        </p:nvSpPr>
        <p:spPr>
          <a:xfrm>
            <a:off x="576072" y="4882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Чего нет в команде</a:t>
            </a:r>
          </a:p>
        </p:txBody>
      </p:sp>
      <p:sp>
        <p:nvSpPr>
          <p:cNvPr id="18" name="Text 16"/>
          <p:cNvSpPr/>
          <p:nvPr/>
        </p:nvSpPr>
        <p:spPr>
          <a:xfrm>
            <a:off x="576072" y="5138928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 ТОиР, интегратор 1С / EAM, ИБ</a:t>
            </a:r>
          </a:p>
        </p:txBody>
      </p:sp>
      <p:sp>
        <p:nvSpPr>
          <p:cNvPr id="19" name="Shape 17"/>
          <p:cNvSpPr/>
          <p:nvPr/>
        </p:nvSpPr>
        <p:spPr>
          <a:xfrm>
            <a:off x="6117336" y="1645920"/>
            <a:ext cx="5660136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7336" y="1645920"/>
            <a:ext cx="5660136" cy="64008"/>
          </a:xfrm>
          <a:prstGeom prst="rect">
            <a:avLst/>
          </a:prstGeom>
          <a:solidFill>
            <a:srgbClr val="6B7280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792224"/>
            <a:ext cx="5367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проекте</a:t>
            </a:r>
          </a:p>
        </p:txBody>
      </p:sp>
      <p:sp>
        <p:nvSpPr>
          <p:cNvPr id="22" name="Shape 20"/>
          <p:cNvSpPr/>
          <p:nvPr/>
        </p:nvSpPr>
        <p:spPr>
          <a:xfrm>
            <a:off x="6263640" y="2463800"/>
            <a:ext cx="91440" cy="91440"/>
          </a:xfrm>
          <a:prstGeom prst="rect">
            <a:avLst/>
          </a:prstGeom>
          <a:solidFill>
            <a:srgbClr val="6B7280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2987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Лицензия:</a:t>
            </a:r>
          </a:p>
        </p:txBody>
      </p:sp>
      <p:sp>
        <p:nvSpPr>
          <p:cNvPr id="24" name="Text 22"/>
          <p:cNvSpPr/>
          <p:nvPr/>
        </p:nvSpPr>
        <p:spPr>
          <a:xfrm>
            <a:off x="6446520" y="2565400"/>
            <a:ext cx="51846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· закрытого ядра нет</a:t>
            </a:r>
          </a:p>
        </p:txBody>
      </p:sp>
      <p:sp>
        <p:nvSpPr>
          <p:cNvPr id="25" name="Shape 23"/>
          <p:cNvSpPr/>
          <p:nvPr/>
        </p:nvSpPr>
        <p:spPr>
          <a:xfrm>
            <a:off x="6263640" y="3200400"/>
            <a:ext cx="91440" cy="91440"/>
          </a:xfrm>
          <a:prstGeom prst="rect">
            <a:avLst/>
          </a:prstGeom>
          <a:solidFill>
            <a:srgbClr val="6B7280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0353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Версия:</a:t>
            </a:r>
          </a:p>
        </p:txBody>
      </p:sp>
      <p:sp>
        <p:nvSpPr>
          <p:cNvPr id="27" name="Text 25"/>
          <p:cNvSpPr/>
          <p:nvPr/>
        </p:nvSpPr>
        <p:spPr>
          <a:xfrm>
            <a:off x="6446520" y="3302000"/>
            <a:ext cx="51846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0.1.8</a:t>
            </a:r>
          </a:p>
        </p:txBody>
      </p:sp>
      <p:sp>
        <p:nvSpPr>
          <p:cNvPr id="28" name="Shape 26"/>
          <p:cNvSpPr/>
          <p:nvPr/>
        </p:nvSpPr>
        <p:spPr>
          <a:xfrm>
            <a:off x="6263640" y="3937000"/>
            <a:ext cx="91440" cy="91440"/>
          </a:xfrm>
          <a:prstGeom prst="rect">
            <a:avLst/>
          </a:prstGeom>
          <a:solidFill>
            <a:srgbClr val="6B7280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7719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Зрелость:</a:t>
            </a:r>
          </a:p>
        </p:txBody>
      </p:sp>
      <p:sp>
        <p:nvSpPr>
          <p:cNvPr id="30" name="Text 28"/>
          <p:cNvSpPr/>
          <p:nvPr/>
        </p:nvSpPr>
        <p:spPr>
          <a:xfrm>
            <a:off x="6446520" y="4038600"/>
            <a:ext cx="51846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самооценка ISO 16290 TRL 4 на синтетике</a:t>
            </a:r>
          </a:p>
        </p:txBody>
      </p:sp>
      <p:sp>
        <p:nvSpPr>
          <p:cNvPr id="31" name="Shape 29"/>
          <p:cNvSpPr/>
          <p:nvPr/>
        </p:nvSpPr>
        <p:spPr>
          <a:xfrm>
            <a:off x="6263640" y="4673600"/>
            <a:ext cx="91440" cy="91440"/>
          </a:xfrm>
          <a:prstGeom prst="rect">
            <a:avLst/>
          </a:prstGeom>
          <a:solidFill>
            <a:srgbClr val="6B7280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5085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Формат:</a:t>
            </a:r>
          </a:p>
        </p:txBody>
      </p:sp>
      <p:sp>
        <p:nvSpPr>
          <p:cNvPr id="33" name="Text 31"/>
          <p:cNvSpPr/>
          <p:nvPr/>
        </p:nvSpPr>
        <p:spPr>
          <a:xfrm>
            <a:off x="6446520" y="4775200"/>
            <a:ext cx="51846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ИП</a:t>
            </a:r>
          </a:p>
        </p:txBody>
      </p:sp>
      <p:sp>
        <p:nvSpPr>
          <p:cNvPr id="34" name="Shape 32"/>
          <p:cNvSpPr/>
          <p:nvPr/>
        </p:nvSpPr>
        <p:spPr>
          <a:xfrm>
            <a:off x="6263640" y="5410200"/>
            <a:ext cx="91440" cy="91440"/>
          </a:xfrm>
          <a:prstGeom prst="rect">
            <a:avLst/>
          </a:prstGeom>
          <a:solidFill>
            <a:srgbClr val="6B7280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52451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Основание:</a:t>
            </a:r>
          </a:p>
        </p:txBody>
      </p:sp>
      <p:sp>
        <p:nvSpPr>
          <p:cNvPr id="36" name="Text 34"/>
          <p:cNvSpPr/>
          <p:nvPr/>
        </p:nvSpPr>
        <p:spPr>
          <a:xfrm>
            <a:off x="6446520" y="5511800"/>
            <a:ext cx="51846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C1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и документация проекта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 w="9525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67FF"/>
          </a:solidFill>
          <a:ln w="9525">
            <a:solidFill>
              <a:srgbClr val="266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554480"/>
            <a:ext cx="11365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проверить результат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3072384"/>
            <a:ext cx="11365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pip install -e ".[dev]"   ·   python -m synaps_gridplan version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benchmark/jury_benchmark.py --cpsat   ·   python -m pytest -q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результат: версия 0.1.8; FIFO — 107 нарушений; GREED — 0; CP-SAT — оптимум.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12188952" cy="1645920"/>
          </a:xfrm>
          <a:prstGeom prst="rect">
            <a:avLst/>
          </a:prstGeom>
          <a:solidFill>
            <a:srgbClr val="161F31"/>
          </a:solidFill>
          <a:ln w="9525">
            <a:solidFill>
              <a:srgbClr val="161F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6400" y="4882896"/>
            <a:ext cx="25400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konkov-dmitrij@yandex.ru</a:t>
            </a:r>
          </a:p>
        </p:txBody>
      </p:sp>
      <p:sp>
        <p:nvSpPr>
          <p:cNvPr id="8" name="Text 6"/>
          <p:cNvSpPr/>
          <p:nvPr/>
        </p:nvSpPr>
        <p:spPr>
          <a:xfrm>
            <a:off x="3048000" y="4882896"/>
            <a:ext cx="31750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github.com/KonkovDV/SynAPS-GridPlan</a:t>
            </a:r>
          </a:p>
        </p:txBody>
      </p:sp>
      <p:sp>
        <p:nvSpPr>
          <p:cNvPr id="9" name="Text 7"/>
          <p:cNvSpPr/>
          <p:nvPr/>
        </p:nvSpPr>
        <p:spPr>
          <a:xfrm>
            <a:off x="6350000" y="4882896"/>
            <a:ext cx="27940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etechhubspb.ru/accelerator</a:t>
            </a:r>
          </a:p>
        </p:txBody>
      </p:sp>
      <p:sp>
        <p:nvSpPr>
          <p:cNvPr id="10" name="Text 8"/>
          <p:cNvSpPr/>
          <p:nvPr/>
        </p:nvSpPr>
        <p:spPr>
          <a:xfrm>
            <a:off x="9245600" y="4882896"/>
            <a:ext cx="25400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0.1.8 · MIT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самооценка ISO 16290 TRL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1782</Words>
  <Application>Microsoft Office PowerPoint</Application>
  <PresentationFormat>Широкоэкранный</PresentationFormat>
  <Paragraphs>288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ИП Коньков Д. В.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SynAPS-GridPlan 0.1.8 — ТОиР evidence pitch</dc:title>
  <dc:subject>Энерготехнохаб Петербург, направление 02; лабораторный прототип на синтетике</dc:subject>
  <dc:creator>Konkov D.V.</dc:creator>
  <cp:keywords>ТОиР; SynAPS-GridPlan; лабораторный прототип; синтетические данные</cp:keywords>
  <dc:description>Финальная версия презентации SynAPS-GridPlan: лабораторный прототип на синтетических данных.</dc:description>
  <cp:lastModifiedBy>Ivan Ivanov</cp:lastModifiedBy>
  <cp:revision>4</cp:revision>
  <dcterms:created xsi:type="dcterms:W3CDTF">2026-09-18T14:27:25Z</dcterms:created>
  <dcterms:modified xsi:type="dcterms:W3CDTF">2026-09-19T04:50:50Z</dcterms:modified>
  <cp:category>pitch</cp:category>
</cp:coreProperties>
</file>